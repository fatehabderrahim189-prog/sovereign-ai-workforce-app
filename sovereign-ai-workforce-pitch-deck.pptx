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Open strong. Don't read the slide.
Say: 'Every organization loses thousands of hours a year to the same repetitive work — email, scheduling, invoices, reports. We've built a platform that deploys a team of specialized AI agents to handle all of it. They coordinate, they remember, and they wait for your approval before acting. That's Sovereign AI Workforce.'
Pause after 'approval.' Let it land.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Don't rush this slide. The problem is the reason this company exists.
Key points:
- The 28% / 43% / 4-hour stats are from McKinsey, Atlassian, HBR — cite them if asked.
- The $1.8T is the Asana Anatomy of Work figure for the US alone — it's conservative for MENA.
- The core insight: existing solutions (Copilot, ChatGPT, Zapier) address individual tasks in isolation. None coordinate multiple agents with shared memory and human oversight.
If time is short, say: 'The problem is not a tool problem. It's an organizational problem. Organizations need a workforce,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MARKET OPPORTUNITY
Lead with the TAM, but don't dwell on it — judges know AI markets are big.
The real hook is the 'why now' box at the bottom:
- Models capable of production multi-step reasoning are 18–24 months old. The platform requires this capability; it couldn't have been built in 2022.
- The MENA government mandate angle is our strategic moat that Silicon Valley cannot easily replicate.
- Emphasize: 'We're not entering an existing market. We're defining a new category.'
If investors push on SOM: 'We need 30 enterprise customers at $1,200/month average to hit $432K ARR. We have 5 design partners already in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SOLUTION
The three-pillar framing is the conceptual anchor of the whole pitch. Hammer it.
Key distinction to draw:
'Copilot makes YOU faster at email. We replace the email function entirely — draft, review, compliance check, and send — while you're in a strategy meeting.'
On the Human Control pillar: this is what gets enterprise and government buyers across the line. Say: 'The approval gate is not optional. It's not a UI toggle. It's a server-side hold in the workflow state machine. Zero external actions without your explicit sign-off.'
Common objection: 'Why not just use ChatGPT?'
Answer: 'ChatGPT is stateless, single-agent, and produces text. We coordinate teams, remember context across months, and execute real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PRODUCT DEMO
If doing a live demo, switch to the app here. Come back to slides for the close.
If presenting slides-only, walk through the trigger → 4 steps → result narrative:
'Sarah sends an email at 9am. Without you doing anything: the system retrieves that Northwind prefers formal, number-led communication. The Calendar Agent finds Thursday 10am. The Compliance Agent checks the plan for policy issues. The Executive Agent writes the action plan. At 9:02, you get a push notification. You tap Approve. By 9:03 the calendar event exists, the email is sent, and every step is logged in the audit trail.'
The live demo URL: sovereign-ai-workforce.vercel.app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TECHNOLOGY
For a general audience: skip the technical details and say:
'The platform is production-grade, open-source deployable, and ships with Docker in under 5 minutes. Everything runs on infrastructure the customer owns. No vendor lock-in.'
For technical evaluators:
- pgvector with HNSW index is the key differentiator in the memory layer — it scales to 100K+ memory records without latency degradation.
- The RAG retrieval is semantic (cosine similarity), not keyword — query 'schedule call with logistics client' returns the Northwind record even though those words don't appear in the stored text.
- Multi-tenancy: every DB query is scoped to organization_id. Org A cannot access Org B's memory, workflows, or logs.
The backend has 29 Python files, 2 Alembic migrations, and compiles clean with py_compile.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AI WORKFORCE ARCHITECTURE
Walk the flow left to right:
'An event arrives — email, webhook, or scheduled trigger. Before anything runs, the memory layer retrieves the relevant context. The Executive Agent routes the task to the right specialists in sequence. Each specialist adds its layer — email analysis, slot finding, financial check, compliance review. Before execution, the Compliance Agent checks the full plan. Then — and only then — does the human see the plan and decide.'
Technical depth if asked:
- 'The memory layer is pgvector in PostgreSQL — cosine similarity over 384-dimensional embeddings. It finds semantically relevant records even when zero keywords match.'
- 'The approval is a server-side state machine hold — not a UI element. The database row is in status awaiting_approval. No Google API call can be made in that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COMPETITIVE ADVANTAGE
Walk the table column by column, not row by row:
'Microsoft Copilot does Workspace execution well but has no memory, no multi-agent coordination, and no data sovereignty below the enterprise license. It's a per-user product.
Zapier does workflow automation for technical teams but can't handle unstructured inputs like email prose — and there's no judgment, only if-then logic.
CrewAI is a developer framework — not a deployable product with approval workflows, monitoring, or a UI. It requires engineering to use.'
The two uniquely defensible cells:
- 'Long-term semantic memory' — no competitor has pgvector RAG in an AI operations product.
- 'Arabic + MENA-first' — the addressable government market in KSA, UAE, Algeria requires this and Silicon Valley products do not provide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BUSINESS MODEL
Lead with the pricing philosophy:
'We price per organization — not per user. AI should get cheaper for an org as adoption grows inside it, not more expensive. This is the opposite of how Microsoft prices Copilot.'
On the Sovereign tier: 'Government contracts in MENA are multi-year, fixed-price, and typically in the $500K–$2M range. Three sovereign contracts alone fund the company to profitability.'
Unit economics:
- The 82% gross margin assumes Claude API costs of ~$0.02/workflow-run, 50 runs/mo per org.
- At $1,200/mo ARR = $14,400/year. CAC $4,800 = 4-month payback on gross margin basis.
- NRR 115%: Growth customers expand to Enterprise as their custom agent count grows.
If asked about competitor pricing: 'Zapier Enterprise is $1,999/mo for less capability. Salesforce Einstein is $50/user/mo — $250K/year for a 500-person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FUTURE VISION
This is the 'bet on us' moment. Speak it, don't read it.
'In five years, I want one of these agents to be running inside a national ministry as operational infrastructure — the same way electricity runs the lights. Not a software product. National infrastructure.'
'The countries that will define the next wave of AI governance are not the ones that outsource their operational intelligence to US companies. They're the ones that build sovereign systems, on sovereign infrastructure, in their own languages. This is ours.'
Pause on 'This is ours.' Let the national identity land.
If time allows: 'The platform is already deployed. The live URL is sovereign-ai-workforce.vercel.app. Everything I just described to you — you can use it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TEAM
The honest sell: this was built solo, and the breadth of what's been produced demonstrates both the depth of the platform and the speed of execution.
Say: 'The platform you've seen — the orchestration engine, the RAG layer, the mobile app, the design system, the landing page, the strategy document — was built by one engineer. Imagine what a funded team of four looks like.'
On advisors: 'I'm actively looking for advisors with government procurement experience in MENA and enterprise SaaS sales backgrounds. The product is ready. The distribution layer is next.'
If asked about the team gap honestly: 'The company needs enterprise sales capability and a customer success function to convert design partners to paid accounts. That's what the seed funding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CLOSING
End with silence.
Say: 'Seven agents, online now, at sovereign-ai-workforce.vercel.app. Open the laptop. Paste an email. Watch them run. Approve the plan.'
'The platform is live. The code is in the room. The backend is deployable in five minutes. The only question is who wants to deploy it at scale.'
'I'm Fateh Abderrahim. I built this from Algeria. I'm here to build it for the world.'
Then stop. Don't say 'thank you.' Don't ask for questions. Let the silence work.
If the room asks questions after: you're in. Take as long as they'll give you.
Final note on the demo URL: sovereign-ai-workforce.vercel.app
Have the laptop open and the site loaded before you reach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60F"/>
        </a:solidFill>
      </p:bgPr>
    </p:bg>
    <p:spTree>
      <p:nvGrpSpPr>
        <p:cNvPr id="1" name=""/>
        <p:cNvGrpSpPr/>
        <p:nvPr/>
      </p:nvGrpSpPr>
      <p:grpSpPr>
        <a:xfrm>
          <a:off x="0" y="0"/>
          <a:ext cx="0" cy="0"/>
          <a:chOff x="0" y="0"/>
          <a:chExt cx="0" cy="0"/>
        </a:xfrm>
      </p:grpSpPr>
      <p:sp>
        <p:nvSpPr>
          <p:cNvPr id="2" name="Shape 0"/>
          <p:cNvSpPr/>
          <p:nvPr/>
        </p:nvSpPr>
        <p:spPr>
          <a:xfrm>
            <a:off x="3200400" y="-1097280"/>
            <a:ext cx="2743200" cy="2743200"/>
          </a:xfrm>
          <a:prstGeom prst="ellipse">
            <a:avLst/>
          </a:prstGeom>
          <a:solidFill>
            <a:srgbClr val="F59E0B">
              <a:alpha val="12000"/>
            </a:srgbClr>
          </a:solidFill>
          <a:ln w="12700">
            <a:solidFill>
              <a:srgbClr val="04060F"/>
            </a:solidFill>
            <a:prstDash val="solid"/>
          </a:ln>
        </p:spPr>
      </p:sp>
      <p:sp>
        <p:nvSpPr>
          <p:cNvPr id="3" name="Shape 1"/>
          <p:cNvSpPr/>
          <p:nvPr/>
        </p:nvSpPr>
        <p:spPr>
          <a:xfrm>
            <a:off x="4023360" y="475488"/>
            <a:ext cx="1097280" cy="1097280"/>
          </a:xfrm>
          <a:prstGeom prst="ellipse">
            <a:avLst/>
          </a:prstGeom>
          <a:solidFill>
            <a:srgbClr val="F59E0B"/>
          </a:solidFill>
          <a:ln w="12700">
            <a:solidFill>
              <a:srgbClr val="04060F"/>
            </a:solidFill>
            <a:prstDash val="solid"/>
          </a:ln>
          <a:effectLst>
            <a:outerShdw sx="100000" sy="100000" kx="0" ky="0" algn="bl" rotWithShape="0" blurRad="203200" dist="50800" dir="2700000">
              <a:srgbClr val="000000">
                <a:alpha val="50000"/>
              </a:srgbClr>
            </a:outerShdw>
          </a:effectLst>
        </p:spPr>
      </p:sp>
      <p:sp>
        <p:nvSpPr>
          <p:cNvPr id="4" name="Text 2"/>
          <p:cNvSpPr/>
          <p:nvPr/>
        </p:nvSpPr>
        <p:spPr>
          <a:xfrm>
            <a:off x="4023360" y="438912"/>
            <a:ext cx="1097280" cy="1097280"/>
          </a:xfrm>
          <a:prstGeom prst="rect">
            <a:avLst/>
          </a:prstGeom>
          <a:noFill/>
          <a:ln/>
        </p:spPr>
        <p:txBody>
          <a:bodyPr wrap="square" lIns="0" tIns="0" rIns="0" bIns="0" rtlCol="0" anchor="ctr"/>
          <a:lstStyle/>
          <a:p>
            <a:pPr algn="ctr" indent="0" marL="0">
              <a:buNone/>
            </a:pPr>
            <a:r>
              <a:rPr lang="en-US" sz="3600" b="1" dirty="0">
                <a:solidFill>
                  <a:srgbClr val="04060F"/>
                </a:solidFill>
                <a:latin typeface="Arial" pitchFamily="34" charset="0"/>
                <a:ea typeface="Arial" pitchFamily="34" charset="-122"/>
                <a:cs typeface="Arial" pitchFamily="34" charset="-120"/>
              </a:rPr>
              <a:t>◈</a:t>
            </a:r>
            <a:endParaRPr lang="en-US" sz="3600" dirty="0"/>
          </a:p>
        </p:txBody>
      </p:sp>
      <p:sp>
        <p:nvSpPr>
          <p:cNvPr id="5" name="Text 3"/>
          <p:cNvSpPr/>
          <p:nvPr/>
        </p:nvSpPr>
        <p:spPr>
          <a:xfrm>
            <a:off x="457200" y="1719072"/>
            <a:ext cx="822960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Sovereign AI Workforce</a:t>
            </a:r>
            <a:endParaRPr lang="en-US" sz="4000" dirty="0"/>
          </a:p>
        </p:txBody>
      </p:sp>
      <p:sp>
        <p:nvSpPr>
          <p:cNvPr id="6" name="Text 4"/>
          <p:cNvSpPr/>
          <p:nvPr/>
        </p:nvSpPr>
        <p:spPr>
          <a:xfrm>
            <a:off x="914400" y="2487168"/>
            <a:ext cx="7315200" cy="347472"/>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An Autonomous AI Workforce Platform for Smart Organizations</a:t>
            </a:r>
            <a:endParaRPr lang="en-US" sz="1600" dirty="0"/>
          </a:p>
        </p:txBody>
      </p:sp>
      <p:sp>
        <p:nvSpPr>
          <p:cNvPr id="7" name="Shape 5"/>
          <p:cNvSpPr/>
          <p:nvPr/>
        </p:nvSpPr>
        <p:spPr>
          <a:xfrm>
            <a:off x="3474720" y="2944368"/>
            <a:ext cx="2194560" cy="0"/>
          </a:xfrm>
          <a:prstGeom prst="line">
            <a:avLst/>
          </a:prstGeom>
          <a:noFill/>
          <a:ln w="12700">
            <a:solidFill>
              <a:srgbClr val="F59E0B"/>
            </a:solidFill>
            <a:prstDash val="solid"/>
          </a:ln>
        </p:spPr>
      </p:sp>
      <p:sp>
        <p:nvSpPr>
          <p:cNvPr id="8" name="Text 6"/>
          <p:cNvSpPr/>
          <p:nvPr/>
        </p:nvSpPr>
        <p:spPr>
          <a:xfrm>
            <a:off x="1188720" y="3145536"/>
            <a:ext cx="1371600" cy="41148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7</a:t>
            </a:r>
            <a:endParaRPr lang="en-US" sz="2400" dirty="0"/>
          </a:p>
        </p:txBody>
      </p:sp>
      <p:sp>
        <p:nvSpPr>
          <p:cNvPr id="9" name="Text 7"/>
          <p:cNvSpPr/>
          <p:nvPr/>
        </p:nvSpPr>
        <p:spPr>
          <a:xfrm>
            <a:off x="1188720" y="3547872"/>
            <a:ext cx="137160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AI Agents</a:t>
            </a:r>
            <a:endParaRPr lang="en-US" sz="1000" dirty="0"/>
          </a:p>
        </p:txBody>
      </p:sp>
      <p:sp>
        <p:nvSpPr>
          <p:cNvPr id="10" name="Text 8"/>
          <p:cNvSpPr/>
          <p:nvPr/>
        </p:nvSpPr>
        <p:spPr>
          <a:xfrm>
            <a:off x="3108960" y="3145536"/>
            <a:ext cx="1371600" cy="41148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13+</a:t>
            </a:r>
            <a:endParaRPr lang="en-US" sz="2400" dirty="0"/>
          </a:p>
        </p:txBody>
      </p:sp>
      <p:sp>
        <p:nvSpPr>
          <p:cNvPr id="11" name="Text 9"/>
          <p:cNvSpPr/>
          <p:nvPr/>
        </p:nvSpPr>
        <p:spPr>
          <a:xfrm>
            <a:off x="3108960" y="3547872"/>
            <a:ext cx="137160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Hrs saved/week</a:t>
            </a:r>
            <a:endParaRPr lang="en-US" sz="1000" dirty="0"/>
          </a:p>
        </p:txBody>
      </p:sp>
      <p:sp>
        <p:nvSpPr>
          <p:cNvPr id="12" name="Text 10"/>
          <p:cNvSpPr/>
          <p:nvPr/>
        </p:nvSpPr>
        <p:spPr>
          <a:xfrm>
            <a:off x="5029200" y="3145536"/>
            <a:ext cx="1371600" cy="41148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$47B</a:t>
            </a:r>
            <a:endParaRPr lang="en-US" sz="2400" dirty="0"/>
          </a:p>
        </p:txBody>
      </p:sp>
      <p:sp>
        <p:nvSpPr>
          <p:cNvPr id="13" name="Text 11"/>
          <p:cNvSpPr/>
          <p:nvPr/>
        </p:nvSpPr>
        <p:spPr>
          <a:xfrm>
            <a:off x="5029200" y="3547872"/>
            <a:ext cx="137160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Market by 2030</a:t>
            </a:r>
            <a:endParaRPr lang="en-US" sz="1000" dirty="0"/>
          </a:p>
        </p:txBody>
      </p:sp>
      <p:sp>
        <p:nvSpPr>
          <p:cNvPr id="14" name="Text 12"/>
          <p:cNvSpPr/>
          <p:nvPr/>
        </p:nvSpPr>
        <p:spPr>
          <a:xfrm>
            <a:off x="6949440" y="3145536"/>
            <a:ext cx="1371600" cy="41148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0</a:t>
            </a:r>
            <a:endParaRPr lang="en-US" sz="2400" dirty="0"/>
          </a:p>
        </p:txBody>
      </p:sp>
      <p:sp>
        <p:nvSpPr>
          <p:cNvPr id="15" name="Text 13"/>
          <p:cNvSpPr/>
          <p:nvPr/>
        </p:nvSpPr>
        <p:spPr>
          <a:xfrm>
            <a:off x="6949440" y="3547872"/>
            <a:ext cx="137160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Code required</a:t>
            </a:r>
            <a:endParaRPr lang="en-US" sz="1000" dirty="0"/>
          </a:p>
        </p:txBody>
      </p:sp>
      <p:sp>
        <p:nvSpPr>
          <p:cNvPr id="16" name="Text 14"/>
          <p:cNvSpPr/>
          <p:nvPr/>
        </p:nvSpPr>
        <p:spPr>
          <a:xfrm>
            <a:off x="914400" y="4169664"/>
            <a:ext cx="7315200" cy="201168"/>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Boukhalfa Fateh Abderrahim  ·  Sovereign AI Engineer  ·  USTHB, Algeria 🇩🇿</a:t>
            </a:r>
            <a:endParaRPr lang="en-US" sz="1100" dirty="0"/>
          </a:p>
        </p:txBody>
      </p:sp>
      <p:sp>
        <p:nvSpPr>
          <p:cNvPr id="17" name="Text 15"/>
          <p:cNvSpPr/>
          <p:nvPr/>
        </p:nvSpPr>
        <p:spPr>
          <a:xfrm>
            <a:off x="914400" y="4370832"/>
            <a:ext cx="7315200" cy="164592"/>
          </a:xfrm>
          <a:prstGeom prst="rect">
            <a:avLst/>
          </a:prstGeom>
          <a:noFill/>
          <a:ln/>
        </p:spPr>
        <p:txBody>
          <a:bodyPr wrap="square" lIns="0" tIns="0" rIns="0" bIns="0" rtlCol="0" anchor="ctr"/>
          <a:lstStyle/>
          <a:p>
            <a:pPr algn="ctr" indent="0" marL="0">
              <a:buNone/>
            </a:pPr>
            <a:r>
              <a:rPr lang="en-US" sz="950" spc="100" kern="0" dirty="0">
                <a:solidFill>
                  <a:srgbClr val="4A5578"/>
                </a:solidFill>
                <a:latin typeface="Arial" pitchFamily="34" charset="0"/>
                <a:ea typeface="Arial" pitchFamily="34" charset="-122"/>
                <a:cs typeface="Arial" pitchFamily="34" charset="-120"/>
              </a:rPr>
              <a:t>USAII Global AI Hackathon 2026  ·  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2 / 12</a:t>
            </a:r>
            <a:endParaRPr lang="en-US" sz="900" dirty="0"/>
          </a:p>
        </p:txBody>
      </p:sp>
      <p:sp>
        <p:nvSpPr>
          <p:cNvPr id="4" name="Text 2"/>
          <p:cNvSpPr/>
          <p:nvPr/>
        </p:nvSpPr>
        <p:spPr>
          <a:xfrm>
            <a:off x="457200" y="292608"/>
            <a:ext cx="36576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THE PROBLEM</a:t>
            </a:r>
            <a:endParaRPr lang="en-US" sz="900" dirty="0"/>
          </a:p>
        </p:txBody>
      </p:sp>
      <p:sp>
        <p:nvSpPr>
          <p:cNvPr id="5" name="Text 3"/>
          <p:cNvSpPr/>
          <p:nvPr/>
        </p:nvSpPr>
        <p:spPr>
          <a:xfrm>
            <a:off x="457200" y="493776"/>
            <a:ext cx="4023360" cy="10058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Your best people are doing</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your worst work.</a:t>
            </a:r>
            <a:endParaRPr lang="en-US" sz="2600" dirty="0"/>
          </a:p>
        </p:txBody>
      </p:sp>
      <p:sp>
        <p:nvSpPr>
          <p:cNvPr id="6" name="Text 4"/>
          <p:cNvSpPr/>
          <p:nvPr/>
        </p:nvSpPr>
        <p:spPr>
          <a:xfrm>
            <a:off x="457200" y="1572768"/>
            <a:ext cx="4023360" cy="1371600"/>
          </a:xfrm>
          <a:prstGeom prst="rect">
            <a:avLst/>
          </a:prstGeom>
          <a:noFill/>
          <a:ln/>
        </p:spPr>
        <p:txBody>
          <a:bodyPr wrap="square" lIns="0" tIns="0" rIns="0" bIns="0" rtlCol="0" anchor="t"/>
          <a:lstStyle/>
          <a:p>
            <a:pPr indent="0" marL="0">
              <a:buNone/>
            </a:pPr>
            <a:r>
              <a:rPr lang="en-US" sz="1200" dirty="0">
                <a:solidFill>
                  <a:srgbClr val="94A3B8"/>
                </a:solidFill>
                <a:latin typeface="Arial" pitchFamily="34" charset="0"/>
                <a:ea typeface="Arial" pitchFamily="34" charset="-122"/>
                <a:cs typeface="Arial" pitchFamily="34" charset="-120"/>
              </a:rPr>
              <a:t>Knowledge workers spend the majority of their working hours on coordination overhead — not strategy, not innovation. Just email, scheduling, reporting, and invoices.</a:t>
            </a:r>
            <a:endParaRPr lang="en-US" sz="1200" dirty="0"/>
          </a:p>
          <a:p>
            <a:pPr indent="0" marL="0">
              <a:buNone/>
            </a:pPr>
            <a:endParaRPr lang="en-US" sz="1200" dirty="0"/>
          </a:p>
          <a:p>
            <a:pPr indent="0" marL="0">
              <a:buNone/>
            </a:pPr>
            <a:r>
              <a:rPr lang="en-US" sz="1200" dirty="0">
                <a:solidFill>
                  <a:srgbClr val="94A3B8"/>
                </a:solidFill>
                <a:latin typeface="Arial" pitchFamily="34" charset="0"/>
                <a:ea typeface="Arial" pitchFamily="34" charset="-122"/>
                <a:cs typeface="Arial" pitchFamily="34" charset="-120"/>
              </a:rPr>
              <a:t>Every AI tool built so far makes individuals marginally faster. None of them have replaced the operational roles that consume the most time.</a:t>
            </a:r>
            <a:endParaRPr lang="en-US" sz="1200" dirty="0"/>
          </a:p>
        </p:txBody>
      </p:sp>
      <p:sp>
        <p:nvSpPr>
          <p:cNvPr id="7" name="Shape 5"/>
          <p:cNvSpPr/>
          <p:nvPr/>
        </p:nvSpPr>
        <p:spPr>
          <a:xfrm>
            <a:off x="4754880" y="256032"/>
            <a:ext cx="1965960" cy="2103120"/>
          </a:xfrm>
          <a:prstGeom prst="rect">
            <a:avLst>
              <a:gd name="adj" fmla="val 3721"/>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8" name="Text 6"/>
          <p:cNvSpPr/>
          <p:nvPr/>
        </p:nvSpPr>
        <p:spPr>
          <a:xfrm>
            <a:off x="4892040" y="384048"/>
            <a:ext cx="1691640" cy="1135685"/>
          </a:xfrm>
          <a:prstGeom prst="rect">
            <a:avLst/>
          </a:prstGeom>
          <a:noFill/>
          <a:ln/>
        </p:spPr>
        <p:txBody>
          <a:bodyPr wrap="square" lIns="0" tIns="0" rIns="0" bIns="0" rtlCol="0" anchor="ctr"/>
          <a:lstStyle/>
          <a:p>
            <a:pPr algn="ctr" indent="0" marL="0">
              <a:buNone/>
            </a:pPr>
            <a:r>
              <a:rPr lang="en-US" sz="3800" b="1" dirty="0">
                <a:solidFill>
                  <a:srgbClr val="EF4444"/>
                </a:solidFill>
                <a:latin typeface="Cambria" pitchFamily="34" charset="0"/>
                <a:ea typeface="Cambria" pitchFamily="34" charset="-122"/>
                <a:cs typeface="Cambria" pitchFamily="34" charset="-120"/>
              </a:rPr>
              <a:t>28%</a:t>
            </a:r>
            <a:endParaRPr lang="en-US" sz="3800" dirty="0"/>
          </a:p>
        </p:txBody>
      </p:sp>
      <p:sp>
        <p:nvSpPr>
          <p:cNvPr id="9" name="Text 7"/>
          <p:cNvSpPr/>
          <p:nvPr/>
        </p:nvSpPr>
        <p:spPr>
          <a:xfrm>
            <a:off x="4846320" y="1475842"/>
            <a:ext cx="1783080" cy="799186"/>
          </a:xfrm>
          <a:prstGeom prst="rect">
            <a:avLst/>
          </a:prstGeom>
          <a:noFill/>
          <a:ln/>
        </p:spPr>
        <p:txBody>
          <a:bodyPr wrap="square" lIns="0" tIns="0" rIns="0" bIns="0" rtlCol="0" anchor="t"/>
          <a:lstStyle/>
          <a:p>
            <a:pPr algn="ctr" indent="0" marL="0">
              <a:buNone/>
            </a:pPr>
            <a:r>
              <a:rPr lang="en-US" sz="1100" dirty="0">
                <a:solidFill>
                  <a:srgbClr val="94A3B8"/>
                </a:solidFill>
                <a:latin typeface="Arial" pitchFamily="34" charset="0"/>
                <a:ea typeface="Arial" pitchFamily="34" charset="-122"/>
                <a:cs typeface="Arial" pitchFamily="34" charset="-120"/>
              </a:rPr>
              <a:t>of a worker's week consumed by email (McKinsey)</a:t>
            </a:r>
            <a:endParaRPr lang="en-US" sz="1100" dirty="0"/>
          </a:p>
        </p:txBody>
      </p:sp>
      <p:sp>
        <p:nvSpPr>
          <p:cNvPr id="10" name="Shape 8"/>
          <p:cNvSpPr/>
          <p:nvPr/>
        </p:nvSpPr>
        <p:spPr>
          <a:xfrm>
            <a:off x="6858000" y="256032"/>
            <a:ext cx="1965960" cy="2103120"/>
          </a:xfrm>
          <a:prstGeom prst="rect">
            <a:avLst>
              <a:gd name="adj" fmla="val 3721"/>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6995160" y="384048"/>
            <a:ext cx="1691640" cy="1135685"/>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43%</a:t>
            </a:r>
            <a:endParaRPr lang="en-US" sz="3800" dirty="0"/>
          </a:p>
        </p:txBody>
      </p:sp>
      <p:sp>
        <p:nvSpPr>
          <p:cNvPr id="12" name="Text 10"/>
          <p:cNvSpPr/>
          <p:nvPr/>
        </p:nvSpPr>
        <p:spPr>
          <a:xfrm>
            <a:off x="6949440" y="1475842"/>
            <a:ext cx="1783080" cy="799186"/>
          </a:xfrm>
          <a:prstGeom prst="rect">
            <a:avLst/>
          </a:prstGeom>
          <a:noFill/>
          <a:ln/>
        </p:spPr>
        <p:txBody>
          <a:bodyPr wrap="square" lIns="0" tIns="0" rIns="0" bIns="0" rtlCol="0" anchor="t"/>
          <a:lstStyle/>
          <a:p>
            <a:pPr algn="ctr" indent="0" marL="0">
              <a:buNone/>
            </a:pPr>
            <a:r>
              <a:rPr lang="en-US" sz="1100" dirty="0">
                <a:solidFill>
                  <a:srgbClr val="94A3B8"/>
                </a:solidFill>
                <a:latin typeface="Arial" pitchFamily="34" charset="0"/>
                <a:ea typeface="Arial" pitchFamily="34" charset="-122"/>
                <a:cs typeface="Arial" pitchFamily="34" charset="-120"/>
              </a:rPr>
              <a:t>of managers spend 3+ hrs/week on scheduling (Atlassian)</a:t>
            </a:r>
            <a:endParaRPr lang="en-US" sz="1100" dirty="0"/>
          </a:p>
        </p:txBody>
      </p:sp>
      <p:sp>
        <p:nvSpPr>
          <p:cNvPr id="13" name="Shape 11"/>
          <p:cNvSpPr/>
          <p:nvPr/>
        </p:nvSpPr>
        <p:spPr>
          <a:xfrm>
            <a:off x="4754880" y="2542032"/>
            <a:ext cx="1965960" cy="2103120"/>
          </a:xfrm>
          <a:prstGeom prst="rect">
            <a:avLst>
              <a:gd name="adj" fmla="val 3721"/>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4" name="Text 12"/>
          <p:cNvSpPr/>
          <p:nvPr/>
        </p:nvSpPr>
        <p:spPr>
          <a:xfrm>
            <a:off x="4892040" y="2670048"/>
            <a:ext cx="1691640" cy="1135685"/>
          </a:xfrm>
          <a:prstGeom prst="rect">
            <a:avLst/>
          </a:prstGeom>
          <a:noFill/>
          <a:ln/>
        </p:spPr>
        <p:txBody>
          <a:bodyPr wrap="square" lIns="0" tIns="0" rIns="0" bIns="0" rtlCol="0" anchor="ctr"/>
          <a:lstStyle/>
          <a:p>
            <a:pPr algn="ctr" indent="0" marL="0">
              <a:buNone/>
            </a:pPr>
            <a:r>
              <a:rPr lang="en-US" sz="3800" b="1" dirty="0">
                <a:solidFill>
                  <a:srgbClr val="3B82F6"/>
                </a:solidFill>
                <a:latin typeface="Cambria" pitchFamily="34" charset="0"/>
                <a:ea typeface="Cambria" pitchFamily="34" charset="-122"/>
                <a:cs typeface="Cambria" pitchFamily="34" charset="-120"/>
              </a:rPr>
              <a:t>4 hrs</a:t>
            </a:r>
            <a:endParaRPr lang="en-US" sz="3800" dirty="0"/>
          </a:p>
        </p:txBody>
      </p:sp>
      <p:sp>
        <p:nvSpPr>
          <p:cNvPr id="15" name="Text 13"/>
          <p:cNvSpPr/>
          <p:nvPr/>
        </p:nvSpPr>
        <p:spPr>
          <a:xfrm>
            <a:off x="4846320" y="3761842"/>
            <a:ext cx="1783080" cy="799186"/>
          </a:xfrm>
          <a:prstGeom prst="rect">
            <a:avLst/>
          </a:prstGeom>
          <a:noFill/>
          <a:ln/>
        </p:spPr>
        <p:txBody>
          <a:bodyPr wrap="square" lIns="0" tIns="0" rIns="0" bIns="0" rtlCol="0" anchor="t"/>
          <a:lstStyle/>
          <a:p>
            <a:pPr algn="ctr" indent="0" marL="0">
              <a:buNone/>
            </a:pPr>
            <a:r>
              <a:rPr lang="en-US" sz="1100" dirty="0">
                <a:solidFill>
                  <a:srgbClr val="94A3B8"/>
                </a:solidFill>
                <a:latin typeface="Arial" pitchFamily="34" charset="0"/>
                <a:ea typeface="Arial" pitchFamily="34" charset="-122"/>
                <a:cs typeface="Arial" pitchFamily="34" charset="-120"/>
              </a:rPr>
              <a:t>lost per employee weekly to manual report prep</a:t>
            </a:r>
            <a:endParaRPr lang="en-US" sz="1100" dirty="0"/>
          </a:p>
        </p:txBody>
      </p:sp>
      <p:sp>
        <p:nvSpPr>
          <p:cNvPr id="16" name="Shape 14"/>
          <p:cNvSpPr/>
          <p:nvPr/>
        </p:nvSpPr>
        <p:spPr>
          <a:xfrm>
            <a:off x="6858000" y="2542032"/>
            <a:ext cx="1965960" cy="2103120"/>
          </a:xfrm>
          <a:prstGeom prst="rect">
            <a:avLst>
              <a:gd name="adj" fmla="val 3721"/>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7" name="Text 15"/>
          <p:cNvSpPr/>
          <p:nvPr/>
        </p:nvSpPr>
        <p:spPr>
          <a:xfrm>
            <a:off x="6995160" y="2670048"/>
            <a:ext cx="1691640" cy="1135685"/>
          </a:xfrm>
          <a:prstGeom prst="rect">
            <a:avLst/>
          </a:prstGeom>
          <a:noFill/>
          <a:ln/>
        </p:spPr>
        <p:txBody>
          <a:bodyPr wrap="square" lIns="0" tIns="0" rIns="0" bIns="0" rtlCol="0" anchor="ctr"/>
          <a:lstStyle/>
          <a:p>
            <a:pPr algn="ctr" indent="0" marL="0">
              <a:buNone/>
            </a:pPr>
            <a:r>
              <a:rPr lang="en-US" sz="3800" b="1" dirty="0">
                <a:solidFill>
                  <a:srgbClr val="10B981"/>
                </a:solidFill>
                <a:latin typeface="Cambria" pitchFamily="34" charset="0"/>
                <a:ea typeface="Cambria" pitchFamily="34" charset="-122"/>
                <a:cs typeface="Cambria" pitchFamily="34" charset="-120"/>
              </a:rPr>
              <a:t>$1.8T</a:t>
            </a:r>
            <a:endParaRPr lang="en-US" sz="3800" dirty="0"/>
          </a:p>
        </p:txBody>
      </p:sp>
      <p:sp>
        <p:nvSpPr>
          <p:cNvPr id="18" name="Text 16"/>
          <p:cNvSpPr/>
          <p:nvPr/>
        </p:nvSpPr>
        <p:spPr>
          <a:xfrm>
            <a:off x="6949440" y="3761842"/>
            <a:ext cx="1783080" cy="799186"/>
          </a:xfrm>
          <a:prstGeom prst="rect">
            <a:avLst/>
          </a:prstGeom>
          <a:noFill/>
          <a:ln/>
        </p:spPr>
        <p:txBody>
          <a:bodyPr wrap="square" lIns="0" tIns="0" rIns="0" bIns="0" rtlCol="0" anchor="t"/>
          <a:lstStyle/>
          <a:p>
            <a:pPr algn="ctr" indent="0" marL="0">
              <a:buNone/>
            </a:pPr>
            <a:r>
              <a:rPr lang="en-US" sz="1100" dirty="0">
                <a:solidFill>
                  <a:srgbClr val="94A3B8"/>
                </a:solidFill>
                <a:latin typeface="Arial" pitchFamily="34" charset="0"/>
                <a:ea typeface="Arial" pitchFamily="34" charset="-122"/>
                <a:cs typeface="Arial" pitchFamily="34" charset="-120"/>
              </a:rPr>
              <a:t>annual cost of admin overhead, US knowledge workers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3 / 12</a:t>
            </a:r>
            <a:endParaRPr lang="en-US" sz="900" dirty="0"/>
          </a:p>
        </p:txBody>
      </p:sp>
      <p:sp>
        <p:nvSpPr>
          <p:cNvPr id="4" name="Text 2"/>
          <p:cNvSpPr/>
          <p:nvPr/>
        </p:nvSpPr>
        <p:spPr>
          <a:xfrm>
            <a:off x="457200" y="292608"/>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MARKET OPPORTUNITY</a:t>
            </a:r>
            <a:endParaRPr lang="en-US" sz="900" dirty="0"/>
          </a:p>
        </p:txBody>
      </p:sp>
      <p:sp>
        <p:nvSpPr>
          <p:cNvPr id="5" name="Text 3"/>
          <p:cNvSpPr/>
          <p:nvPr/>
        </p:nvSpPr>
        <p:spPr>
          <a:xfrm>
            <a:off x="457200" y="493776"/>
            <a:ext cx="475488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A $47B market. 18 months</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to category leadership.</a:t>
            </a:r>
            <a:endParaRPr lang="en-US" sz="2600" dirty="0"/>
          </a:p>
        </p:txBody>
      </p:sp>
      <p:sp>
        <p:nvSpPr>
          <p:cNvPr id="6" name="Shape 4"/>
          <p:cNvSpPr/>
          <p:nvPr/>
        </p:nvSpPr>
        <p:spPr>
          <a:xfrm>
            <a:off x="457200" y="1508760"/>
            <a:ext cx="2697480" cy="192024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594360" y="1645920"/>
            <a:ext cx="1097280" cy="256032"/>
          </a:xfrm>
          <a:prstGeom prst="rect">
            <a:avLst/>
          </a:prstGeom>
          <a:noFill/>
          <a:ln/>
        </p:spPr>
        <p:txBody>
          <a:bodyPr wrap="square" lIns="0" tIns="0" rIns="0" bIns="0" rtlCol="0" anchor="ctr"/>
          <a:lstStyle/>
          <a:p>
            <a:pPr indent="0" marL="0">
              <a:buNone/>
            </a:pPr>
            <a:r>
              <a:rPr lang="en-US" sz="1000" b="1" spc="150" kern="0" dirty="0">
                <a:solidFill>
                  <a:srgbClr val="3B82F6"/>
                </a:solidFill>
                <a:latin typeface="Arial" pitchFamily="34" charset="0"/>
                <a:ea typeface="Arial" pitchFamily="34" charset="-122"/>
                <a:cs typeface="Arial" pitchFamily="34" charset="-120"/>
              </a:rPr>
              <a:t>TAM</a:t>
            </a:r>
            <a:endParaRPr lang="en-US" sz="1000" dirty="0"/>
          </a:p>
        </p:txBody>
      </p:sp>
      <p:sp>
        <p:nvSpPr>
          <p:cNvPr id="8" name="Text 6"/>
          <p:cNvSpPr/>
          <p:nvPr/>
        </p:nvSpPr>
        <p:spPr>
          <a:xfrm>
            <a:off x="594360" y="1883664"/>
            <a:ext cx="2423160" cy="640080"/>
          </a:xfrm>
          <a:prstGeom prst="rect">
            <a:avLst/>
          </a:prstGeom>
          <a:noFill/>
          <a:ln/>
        </p:spPr>
        <p:txBody>
          <a:bodyPr wrap="square" lIns="0" tIns="0" rIns="0" bIns="0" rtlCol="0" anchor="ctr"/>
          <a:lstStyle/>
          <a:p>
            <a:pPr indent="0" marL="0">
              <a:buNone/>
            </a:pPr>
            <a:r>
              <a:rPr lang="en-US" sz="3400" b="1" dirty="0">
                <a:solidFill>
                  <a:srgbClr val="3B82F6"/>
                </a:solidFill>
                <a:latin typeface="Cambria" pitchFamily="34" charset="0"/>
                <a:ea typeface="Cambria" pitchFamily="34" charset="-122"/>
                <a:cs typeface="Cambria" pitchFamily="34" charset="-120"/>
              </a:rPr>
              <a:t>$47.1B</a:t>
            </a:r>
            <a:endParaRPr lang="en-US" sz="3400" dirty="0"/>
          </a:p>
        </p:txBody>
      </p:sp>
      <p:sp>
        <p:nvSpPr>
          <p:cNvPr id="9" name="Text 7"/>
          <p:cNvSpPr/>
          <p:nvPr/>
        </p:nvSpPr>
        <p:spPr>
          <a:xfrm>
            <a:off x="594360" y="2487168"/>
            <a:ext cx="2423160" cy="777240"/>
          </a:xfrm>
          <a:prstGeom prst="rect">
            <a:avLst/>
          </a:prstGeom>
          <a:noFill/>
          <a:ln/>
        </p:spPr>
        <p:txBody>
          <a:bodyPr wrap="square" lIns="0" tIns="0" rIns="0" bIns="0" rtlCol="0" anchor="t"/>
          <a:lstStyle/>
          <a:p>
            <a:pPr indent="0" marL="0">
              <a:buNone/>
            </a:pPr>
            <a:r>
              <a:rPr lang="en-US" sz="1050" dirty="0">
                <a:solidFill>
                  <a:srgbClr val="94A3B8"/>
                </a:solidFill>
                <a:latin typeface="Arial" pitchFamily="34" charset="0"/>
                <a:ea typeface="Arial" pitchFamily="34" charset="-122"/>
                <a:cs typeface="Arial" pitchFamily="34" charset="-120"/>
              </a:rPr>
              <a:t>Global AI enterprise ops by 2030</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34.2% CAGR</a:t>
            </a:r>
            <a:endParaRPr lang="en-US" sz="1050" dirty="0"/>
          </a:p>
        </p:txBody>
      </p:sp>
      <p:sp>
        <p:nvSpPr>
          <p:cNvPr id="10" name="Shape 8"/>
          <p:cNvSpPr/>
          <p:nvPr/>
        </p:nvSpPr>
        <p:spPr>
          <a:xfrm>
            <a:off x="3383280" y="1508760"/>
            <a:ext cx="2697480" cy="192024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3520440" y="1645920"/>
            <a:ext cx="1097280" cy="256032"/>
          </a:xfrm>
          <a:prstGeom prst="rect">
            <a:avLst/>
          </a:prstGeom>
          <a:noFill/>
          <a:ln/>
        </p:spPr>
        <p:txBody>
          <a:bodyPr wrap="square" lIns="0" tIns="0" rIns="0" bIns="0" rtlCol="0" anchor="ctr"/>
          <a:lstStyle/>
          <a:p>
            <a:pPr indent="0" marL="0">
              <a:buNone/>
            </a:pPr>
            <a:r>
              <a:rPr lang="en-US" sz="1000" b="1" spc="150" kern="0" dirty="0">
                <a:solidFill>
                  <a:srgbClr val="F59E0B"/>
                </a:solidFill>
                <a:latin typeface="Arial" pitchFamily="34" charset="0"/>
                <a:ea typeface="Arial" pitchFamily="34" charset="-122"/>
                <a:cs typeface="Arial" pitchFamily="34" charset="-120"/>
              </a:rPr>
              <a:t>SAM</a:t>
            </a:r>
            <a:endParaRPr lang="en-US" sz="1000" dirty="0"/>
          </a:p>
        </p:txBody>
      </p:sp>
      <p:sp>
        <p:nvSpPr>
          <p:cNvPr id="12" name="Text 10"/>
          <p:cNvSpPr/>
          <p:nvPr/>
        </p:nvSpPr>
        <p:spPr>
          <a:xfrm>
            <a:off x="3520440" y="1883664"/>
            <a:ext cx="2423160" cy="640080"/>
          </a:xfrm>
          <a:prstGeom prst="rect">
            <a:avLst/>
          </a:prstGeom>
          <a:noFill/>
          <a:ln/>
        </p:spPr>
        <p:txBody>
          <a:bodyPr wrap="square" lIns="0" tIns="0" rIns="0" bIns="0" rtlCol="0" anchor="ctr"/>
          <a:lstStyle/>
          <a:p>
            <a:pPr indent="0" marL="0">
              <a:buNone/>
            </a:pPr>
            <a:r>
              <a:rPr lang="en-US" sz="3400" b="1" dirty="0">
                <a:solidFill>
                  <a:srgbClr val="F59E0B"/>
                </a:solidFill>
                <a:latin typeface="Cambria" pitchFamily="34" charset="0"/>
                <a:ea typeface="Cambria" pitchFamily="34" charset="-122"/>
                <a:cs typeface="Cambria" pitchFamily="34" charset="-120"/>
              </a:rPr>
              <a:t>$3.2B</a:t>
            </a:r>
            <a:endParaRPr lang="en-US" sz="3400" dirty="0"/>
          </a:p>
        </p:txBody>
      </p:sp>
      <p:sp>
        <p:nvSpPr>
          <p:cNvPr id="13" name="Text 11"/>
          <p:cNvSpPr/>
          <p:nvPr/>
        </p:nvSpPr>
        <p:spPr>
          <a:xfrm>
            <a:off x="3520440" y="2487168"/>
            <a:ext cx="2423160" cy="777240"/>
          </a:xfrm>
          <a:prstGeom prst="rect">
            <a:avLst/>
          </a:prstGeom>
          <a:noFill/>
          <a:ln/>
        </p:spPr>
        <p:txBody>
          <a:bodyPr wrap="square" lIns="0" tIns="0" rIns="0" bIns="0" rtlCol="0" anchor="t"/>
          <a:lstStyle/>
          <a:p>
            <a:pPr indent="0" marL="0">
              <a:buNone/>
            </a:pPr>
            <a:r>
              <a:rPr lang="en-US" sz="1050" dirty="0">
                <a:solidFill>
                  <a:srgbClr val="94A3B8"/>
                </a:solidFill>
                <a:latin typeface="Arial" pitchFamily="34" charset="0"/>
                <a:ea typeface="Arial" pitchFamily="34" charset="-122"/>
                <a:cs typeface="Arial" pitchFamily="34" charset="-120"/>
              </a:rPr>
              <a:t>MENA mid-market + government</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digital transformation by 2028</a:t>
            </a:r>
            <a:endParaRPr lang="en-US" sz="1050" dirty="0"/>
          </a:p>
        </p:txBody>
      </p:sp>
      <p:sp>
        <p:nvSpPr>
          <p:cNvPr id="14" name="Shape 12"/>
          <p:cNvSpPr/>
          <p:nvPr/>
        </p:nvSpPr>
        <p:spPr>
          <a:xfrm>
            <a:off x="6309360" y="1508760"/>
            <a:ext cx="2697480" cy="192024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5" name="Text 13"/>
          <p:cNvSpPr/>
          <p:nvPr/>
        </p:nvSpPr>
        <p:spPr>
          <a:xfrm>
            <a:off x="6446520" y="1645920"/>
            <a:ext cx="1097280" cy="256032"/>
          </a:xfrm>
          <a:prstGeom prst="rect">
            <a:avLst/>
          </a:prstGeom>
          <a:noFill/>
          <a:ln/>
        </p:spPr>
        <p:txBody>
          <a:bodyPr wrap="square" lIns="0" tIns="0" rIns="0" bIns="0" rtlCol="0" anchor="ctr"/>
          <a:lstStyle/>
          <a:p>
            <a:pPr indent="0" marL="0">
              <a:buNone/>
            </a:pPr>
            <a:r>
              <a:rPr lang="en-US" sz="1000" b="1" spc="150" kern="0" dirty="0">
                <a:solidFill>
                  <a:srgbClr val="10B981"/>
                </a:solidFill>
                <a:latin typeface="Arial" pitchFamily="34" charset="0"/>
                <a:ea typeface="Arial" pitchFamily="34" charset="-122"/>
                <a:cs typeface="Arial" pitchFamily="34" charset="-120"/>
              </a:rPr>
              <a:t>SOM</a:t>
            </a:r>
            <a:endParaRPr lang="en-US" sz="1000" dirty="0"/>
          </a:p>
        </p:txBody>
      </p:sp>
      <p:sp>
        <p:nvSpPr>
          <p:cNvPr id="16" name="Text 14"/>
          <p:cNvSpPr/>
          <p:nvPr/>
        </p:nvSpPr>
        <p:spPr>
          <a:xfrm>
            <a:off x="6446520" y="1883664"/>
            <a:ext cx="2423160" cy="640080"/>
          </a:xfrm>
          <a:prstGeom prst="rect">
            <a:avLst/>
          </a:prstGeom>
          <a:noFill/>
          <a:ln/>
        </p:spPr>
        <p:txBody>
          <a:bodyPr wrap="square" lIns="0" tIns="0" rIns="0" bIns="0" rtlCol="0" anchor="ctr"/>
          <a:lstStyle/>
          <a:p>
            <a:pPr indent="0" marL="0">
              <a:buNone/>
            </a:pPr>
            <a:r>
              <a:rPr lang="en-US" sz="3400" b="1" dirty="0">
                <a:solidFill>
                  <a:srgbClr val="10B981"/>
                </a:solidFill>
                <a:latin typeface="Cambria" pitchFamily="34" charset="0"/>
                <a:ea typeface="Cambria" pitchFamily="34" charset="-122"/>
                <a:cs typeface="Cambria" pitchFamily="34" charset="-120"/>
              </a:rPr>
              <a:t>$16M</a:t>
            </a:r>
            <a:endParaRPr lang="en-US" sz="3400" dirty="0"/>
          </a:p>
        </p:txBody>
      </p:sp>
      <p:sp>
        <p:nvSpPr>
          <p:cNvPr id="17" name="Text 15"/>
          <p:cNvSpPr/>
          <p:nvPr/>
        </p:nvSpPr>
        <p:spPr>
          <a:xfrm>
            <a:off x="6446520" y="2487168"/>
            <a:ext cx="2423160" cy="777240"/>
          </a:xfrm>
          <a:prstGeom prst="rect">
            <a:avLst/>
          </a:prstGeom>
          <a:noFill/>
          <a:ln/>
        </p:spPr>
        <p:txBody>
          <a:bodyPr wrap="square" lIns="0" tIns="0" rIns="0" bIns="0" rtlCol="0" anchor="t"/>
          <a:lstStyle/>
          <a:p>
            <a:pPr indent="0" marL="0">
              <a:buNone/>
            </a:pPr>
            <a:r>
              <a:rPr lang="en-US" sz="1050" dirty="0">
                <a:solidFill>
                  <a:srgbClr val="94A3B8"/>
                </a:solidFill>
                <a:latin typeface="Arial" pitchFamily="34" charset="0"/>
                <a:ea typeface="Arial" pitchFamily="34" charset="-122"/>
                <a:cs typeface="Arial" pitchFamily="34" charset="-120"/>
              </a:rPr>
              <a:t>3-year ARR target</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0.5% SAM capture</a:t>
            </a:r>
            <a:endParaRPr lang="en-US" sz="1050" dirty="0"/>
          </a:p>
        </p:txBody>
      </p:sp>
      <p:sp>
        <p:nvSpPr>
          <p:cNvPr id="18" name="Shape 16"/>
          <p:cNvSpPr/>
          <p:nvPr/>
        </p:nvSpPr>
        <p:spPr>
          <a:xfrm>
            <a:off x="457200" y="3566160"/>
            <a:ext cx="8229600" cy="1078992"/>
          </a:xfrm>
          <a:prstGeom prst="roundRect">
            <a:avLst>
              <a:gd name="adj" fmla="val 678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9" name="Text 17"/>
          <p:cNvSpPr/>
          <p:nvPr/>
        </p:nvSpPr>
        <p:spPr>
          <a:xfrm>
            <a:off x="640080" y="3657600"/>
            <a:ext cx="2743200" cy="256032"/>
          </a:xfrm>
          <a:prstGeom prst="rect">
            <a:avLst/>
          </a:prstGeom>
          <a:noFill/>
          <a:ln/>
        </p:spPr>
        <p:txBody>
          <a:bodyPr wrap="square" lIns="0" tIns="0" rIns="0" bIns="0" rtlCol="0" anchor="ctr"/>
          <a:lstStyle/>
          <a:p>
            <a:pPr indent="0" marL="0">
              <a:buNone/>
            </a:pPr>
            <a:r>
              <a:rPr lang="en-US" sz="1100" b="1" dirty="0">
                <a:solidFill>
                  <a:srgbClr val="F59E0B"/>
                </a:solidFill>
                <a:latin typeface="Arial" pitchFamily="34" charset="0"/>
                <a:ea typeface="Arial" pitchFamily="34" charset="-122"/>
                <a:cs typeface="Arial" pitchFamily="34" charset="-120"/>
              </a:rPr>
              <a:t>Why the window is now</a:t>
            </a:r>
            <a:endParaRPr lang="en-US" sz="1100" dirty="0"/>
          </a:p>
        </p:txBody>
      </p:sp>
      <p:sp>
        <p:nvSpPr>
          <p:cNvPr id="20" name="Text 18"/>
          <p:cNvSpPr/>
          <p:nvPr/>
        </p:nvSpPr>
        <p:spPr>
          <a:xfrm>
            <a:off x="640080" y="3931920"/>
            <a:ext cx="7772400" cy="658368"/>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Claude / GPT-4-class models now capable of sustained multi-step reasoning in production</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Google Workspace MCP integration now available — real API execution, not simulation</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Government digital transformation mandates in Algeria, KSA, UAE create institutional demand</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First-mover window: no dominant player in orchestrated, multi-agent, approval-gated workforce platforms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4 / 12</a:t>
            </a:r>
            <a:endParaRPr lang="en-US" sz="900" dirty="0"/>
          </a:p>
        </p:txBody>
      </p:sp>
      <p:sp>
        <p:nvSpPr>
          <p:cNvPr id="4" name="Text 2"/>
          <p:cNvSpPr/>
          <p:nvPr/>
        </p:nvSpPr>
        <p:spPr>
          <a:xfrm>
            <a:off x="457200" y="292608"/>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THE SOLUTION</a:t>
            </a:r>
            <a:endParaRPr lang="en-US" sz="900" dirty="0"/>
          </a:p>
        </p:txBody>
      </p:sp>
      <p:sp>
        <p:nvSpPr>
          <p:cNvPr id="5" name="Text 3"/>
          <p:cNvSpPr/>
          <p:nvPr/>
        </p:nvSpPr>
        <p:spPr>
          <a:xfrm>
            <a:off x="457200" y="493776"/>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Not a tool. A workforce.</a:t>
            </a:r>
            <a:endParaRPr lang="en-US" sz="3000" dirty="0"/>
          </a:p>
        </p:txBody>
      </p:sp>
      <p:sp>
        <p:nvSpPr>
          <p:cNvPr id="6" name="Shape 4"/>
          <p:cNvSpPr/>
          <p:nvPr/>
        </p:nvSpPr>
        <p:spPr>
          <a:xfrm>
            <a:off x="411480" y="1143000"/>
            <a:ext cx="2697480" cy="3337560"/>
          </a:xfrm>
          <a:prstGeom prst="roundRect">
            <a:avLst>
              <a:gd name="adj" fmla="val 339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548640" y="1280160"/>
            <a:ext cx="548640" cy="502920"/>
          </a:xfrm>
          <a:prstGeom prst="rect">
            <a:avLst/>
          </a:prstGeom>
          <a:noFill/>
          <a:ln/>
        </p:spPr>
        <p:txBody>
          <a:bodyPr wrap="square" lIns="0" tIns="0" rIns="0" bIns="0" rtlCol="0" anchor="ctr"/>
          <a:lstStyle/>
          <a:p>
            <a:pPr algn="l" indent="0" marL="0">
              <a:buNone/>
            </a:pPr>
            <a:r>
              <a:rPr lang="en-US" sz="2400" dirty="0">
                <a:solidFill>
                  <a:srgbClr val="000000"/>
                </a:solidFill>
              </a:rPr>
              <a:t>🧠</a:t>
            </a:r>
            <a:endParaRPr lang="en-US" sz="2400" dirty="0"/>
          </a:p>
        </p:txBody>
      </p:sp>
      <p:sp>
        <p:nvSpPr>
          <p:cNvPr id="8" name="Text 6"/>
          <p:cNvSpPr/>
          <p:nvPr/>
        </p:nvSpPr>
        <p:spPr>
          <a:xfrm>
            <a:off x="576072" y="1883664"/>
            <a:ext cx="2377440" cy="320040"/>
          </a:xfrm>
          <a:prstGeom prst="rect">
            <a:avLst/>
          </a:prstGeom>
          <a:noFill/>
          <a:ln/>
        </p:spPr>
        <p:txBody>
          <a:bodyPr wrap="square" lIns="0" tIns="0" rIns="0" bIns="0" rtlCol="0" anchor="ctr"/>
          <a:lstStyle/>
          <a:p>
            <a:pPr indent="0" marL="0">
              <a:buNone/>
            </a:pPr>
            <a:r>
              <a:rPr lang="en-US" sz="1600" b="1" dirty="0">
                <a:solidFill>
                  <a:srgbClr val="3B82F6"/>
                </a:solidFill>
                <a:latin typeface="Cambria" pitchFamily="34" charset="0"/>
                <a:ea typeface="Cambria" pitchFamily="34" charset="-122"/>
                <a:cs typeface="Cambria" pitchFamily="34" charset="-120"/>
              </a:rPr>
              <a:t>Specialization</a:t>
            </a:r>
            <a:endParaRPr lang="en-US" sz="1600" dirty="0"/>
          </a:p>
        </p:txBody>
      </p:sp>
      <p:sp>
        <p:nvSpPr>
          <p:cNvPr id="9" name="Text 7"/>
          <p:cNvSpPr/>
          <p:nvPr/>
        </p:nvSpPr>
        <p:spPr>
          <a:xfrm>
            <a:off x="576072" y="2249424"/>
            <a:ext cx="2377440" cy="2103120"/>
          </a:xfrm>
          <a:prstGeom prst="rect">
            <a:avLst/>
          </a:prstGeom>
          <a:noFill/>
          <a:ln/>
        </p:spPr>
        <p:txBody>
          <a:bodyPr wrap="square" lIns="0" tIns="0" rIns="0" bIns="0" rtlCol="0" anchor="t"/>
          <a:lstStyle/>
          <a:p>
            <a:pPr indent="0" marL="0">
              <a:buNone/>
            </a:pPr>
            <a:r>
              <a:rPr lang="en-US" sz="1150" dirty="0">
                <a:solidFill>
                  <a:srgbClr val="E2E8F0"/>
                </a:solidFill>
                <a:latin typeface="Arial" pitchFamily="34" charset="0"/>
                <a:ea typeface="Arial" pitchFamily="34" charset="-122"/>
                <a:cs typeface="Arial" pitchFamily="34" charset="-120"/>
              </a:rPr>
              <a:t>7 narrowly-focused agents. Email, Calendar, Finance, Reporting, Research, Compliance, Executive. Each one deeply prompted for its domain. Generalism produces mediocrity.</a:t>
            </a:r>
            <a:endParaRPr lang="en-US" sz="1150" dirty="0"/>
          </a:p>
        </p:txBody>
      </p:sp>
      <p:sp>
        <p:nvSpPr>
          <p:cNvPr id="10" name="Shape 8"/>
          <p:cNvSpPr/>
          <p:nvPr/>
        </p:nvSpPr>
        <p:spPr>
          <a:xfrm>
            <a:off x="3337560" y="1143000"/>
            <a:ext cx="2697480" cy="3337560"/>
          </a:xfrm>
          <a:prstGeom prst="roundRect">
            <a:avLst>
              <a:gd name="adj" fmla="val 339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3474720" y="1280160"/>
            <a:ext cx="548640" cy="502920"/>
          </a:xfrm>
          <a:prstGeom prst="rect">
            <a:avLst/>
          </a:prstGeom>
          <a:noFill/>
          <a:ln/>
        </p:spPr>
        <p:txBody>
          <a:bodyPr wrap="square" lIns="0" tIns="0" rIns="0" bIns="0" rtlCol="0" anchor="ctr"/>
          <a:lstStyle/>
          <a:p>
            <a:pPr algn="l" indent="0" marL="0">
              <a:buNone/>
            </a:pPr>
            <a:r>
              <a:rPr lang="en-US" sz="2400" dirty="0">
                <a:solidFill>
                  <a:srgbClr val="000000"/>
                </a:solidFill>
              </a:rPr>
              <a:t>🔄</a:t>
            </a:r>
            <a:endParaRPr lang="en-US" sz="2400" dirty="0"/>
          </a:p>
        </p:txBody>
      </p:sp>
      <p:sp>
        <p:nvSpPr>
          <p:cNvPr id="12" name="Text 10"/>
          <p:cNvSpPr/>
          <p:nvPr/>
        </p:nvSpPr>
        <p:spPr>
          <a:xfrm>
            <a:off x="3502152" y="1883664"/>
            <a:ext cx="2377440" cy="320040"/>
          </a:xfrm>
          <a:prstGeom prst="rect">
            <a:avLst/>
          </a:prstGeom>
          <a:noFill/>
          <a:ln/>
        </p:spPr>
        <p:txBody>
          <a:bodyPr wrap="square" lIns="0" tIns="0" rIns="0" bIns="0" rtlCol="0" anchor="ctr"/>
          <a:lstStyle/>
          <a:p>
            <a:pPr indent="0" marL="0">
              <a:buNone/>
            </a:pPr>
            <a:r>
              <a:rPr lang="en-US" sz="1600" b="1" dirty="0">
                <a:solidFill>
                  <a:srgbClr val="F59E0B"/>
                </a:solidFill>
                <a:latin typeface="Cambria" pitchFamily="34" charset="0"/>
                <a:ea typeface="Cambria" pitchFamily="34" charset="-122"/>
                <a:cs typeface="Cambria" pitchFamily="34" charset="-120"/>
              </a:rPr>
              <a:t>Orchestration</a:t>
            </a:r>
            <a:endParaRPr lang="en-US" sz="1600" dirty="0"/>
          </a:p>
        </p:txBody>
      </p:sp>
      <p:sp>
        <p:nvSpPr>
          <p:cNvPr id="13" name="Text 11"/>
          <p:cNvSpPr/>
          <p:nvPr/>
        </p:nvSpPr>
        <p:spPr>
          <a:xfrm>
            <a:off x="3502152" y="2249424"/>
            <a:ext cx="2377440" cy="2103120"/>
          </a:xfrm>
          <a:prstGeom prst="rect">
            <a:avLst/>
          </a:prstGeom>
          <a:noFill/>
          <a:ln/>
        </p:spPr>
        <p:txBody>
          <a:bodyPr wrap="square" lIns="0" tIns="0" rIns="0" bIns="0" rtlCol="0" anchor="t"/>
          <a:lstStyle/>
          <a:p>
            <a:pPr indent="0" marL="0">
              <a:buNone/>
            </a:pPr>
            <a:r>
              <a:rPr lang="en-US" sz="1150" dirty="0">
                <a:solidFill>
                  <a:srgbClr val="E2E8F0"/>
                </a:solidFill>
                <a:latin typeface="Arial" pitchFamily="34" charset="0"/>
                <a:ea typeface="Arial" pitchFamily="34" charset="-122"/>
                <a:cs typeface="Arial" pitchFamily="34" charset="-120"/>
              </a:rPr>
              <a:t>The Executive Agent routes tasks to specialists, passes their outputs forward, and synthesizes a final action plan. Compound output exceeds any single model's capability.</a:t>
            </a:r>
            <a:endParaRPr lang="en-US" sz="1150" dirty="0"/>
          </a:p>
        </p:txBody>
      </p:sp>
      <p:sp>
        <p:nvSpPr>
          <p:cNvPr id="14" name="Shape 12"/>
          <p:cNvSpPr/>
          <p:nvPr/>
        </p:nvSpPr>
        <p:spPr>
          <a:xfrm>
            <a:off x="6263640" y="1143000"/>
            <a:ext cx="2697480" cy="3337560"/>
          </a:xfrm>
          <a:prstGeom prst="roundRect">
            <a:avLst>
              <a:gd name="adj" fmla="val 339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5" name="Text 13"/>
          <p:cNvSpPr/>
          <p:nvPr/>
        </p:nvSpPr>
        <p:spPr>
          <a:xfrm>
            <a:off x="6400800" y="1280160"/>
            <a:ext cx="548640" cy="502920"/>
          </a:xfrm>
          <a:prstGeom prst="rect">
            <a:avLst/>
          </a:prstGeom>
          <a:noFill/>
          <a:ln/>
        </p:spPr>
        <p:txBody>
          <a:bodyPr wrap="square" lIns="0" tIns="0" rIns="0" bIns="0" rtlCol="0" anchor="ctr"/>
          <a:lstStyle/>
          <a:p>
            <a:pPr algn="l" indent="0" marL="0">
              <a:buNone/>
            </a:pPr>
            <a:r>
              <a:rPr lang="en-US" sz="2400" dirty="0">
                <a:solidFill>
                  <a:srgbClr val="000000"/>
                </a:solidFill>
              </a:rPr>
              <a:t>✋</a:t>
            </a:r>
            <a:endParaRPr lang="en-US" sz="2400" dirty="0"/>
          </a:p>
        </p:txBody>
      </p:sp>
      <p:sp>
        <p:nvSpPr>
          <p:cNvPr id="16" name="Text 14"/>
          <p:cNvSpPr/>
          <p:nvPr/>
        </p:nvSpPr>
        <p:spPr>
          <a:xfrm>
            <a:off x="6428232" y="1883664"/>
            <a:ext cx="2377440" cy="320040"/>
          </a:xfrm>
          <a:prstGeom prst="rect">
            <a:avLst/>
          </a:prstGeom>
          <a:noFill/>
          <a:ln/>
        </p:spPr>
        <p:txBody>
          <a:bodyPr wrap="square" lIns="0" tIns="0" rIns="0" bIns="0" rtlCol="0" anchor="ctr"/>
          <a:lstStyle/>
          <a:p>
            <a:pPr indent="0" marL="0">
              <a:buNone/>
            </a:pPr>
            <a:r>
              <a:rPr lang="en-US" sz="1600" b="1" dirty="0">
                <a:solidFill>
                  <a:srgbClr val="10B981"/>
                </a:solidFill>
                <a:latin typeface="Cambria" pitchFamily="34" charset="0"/>
                <a:ea typeface="Cambria" pitchFamily="34" charset="-122"/>
                <a:cs typeface="Cambria" pitchFamily="34" charset="-120"/>
              </a:rPr>
              <a:t>Human Control</a:t>
            </a:r>
            <a:endParaRPr lang="en-US" sz="1600" dirty="0"/>
          </a:p>
        </p:txBody>
      </p:sp>
      <p:sp>
        <p:nvSpPr>
          <p:cNvPr id="17" name="Text 15"/>
          <p:cNvSpPr/>
          <p:nvPr/>
        </p:nvSpPr>
        <p:spPr>
          <a:xfrm>
            <a:off x="6428232" y="2249424"/>
            <a:ext cx="2377440" cy="2103120"/>
          </a:xfrm>
          <a:prstGeom prst="rect">
            <a:avLst/>
          </a:prstGeom>
          <a:noFill/>
          <a:ln/>
        </p:spPr>
        <p:txBody>
          <a:bodyPr wrap="square" lIns="0" tIns="0" rIns="0" bIns="0" rtlCol="0" anchor="t"/>
          <a:lstStyle/>
          <a:p>
            <a:pPr indent="0" marL="0">
              <a:buNone/>
            </a:pPr>
            <a:r>
              <a:rPr lang="en-US" sz="1150" dirty="0">
                <a:solidFill>
                  <a:srgbClr val="E2E8F0"/>
                </a:solidFill>
                <a:latin typeface="Arial" pitchFamily="34" charset="0"/>
                <a:ea typeface="Arial" pitchFamily="34" charset="-122"/>
                <a:cs typeface="Arial" pitchFamily="34" charset="-120"/>
              </a:rPr>
              <a:t>No agent sends email, creates events, or updates spreadsheets without explicit approval. The gateway is a server-side lock — not a preference. This is the trust architecture.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5 / 12</a:t>
            </a:r>
            <a:endParaRPr lang="en-US" sz="900" dirty="0"/>
          </a:p>
        </p:txBody>
      </p:sp>
      <p:sp>
        <p:nvSpPr>
          <p:cNvPr id="4" name="Text 2"/>
          <p:cNvSpPr/>
          <p:nvPr/>
        </p:nvSpPr>
        <p:spPr>
          <a:xfrm>
            <a:off x="457200" y="292608"/>
            <a:ext cx="36576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PRODUCT DEMO</a:t>
            </a:r>
            <a:endParaRPr lang="en-US" sz="900" dirty="0"/>
          </a:p>
        </p:txBody>
      </p:sp>
      <p:sp>
        <p:nvSpPr>
          <p:cNvPr id="5" name="Text 3"/>
          <p:cNvSpPr/>
          <p:nvPr/>
        </p:nvSpPr>
        <p:spPr>
          <a:xfrm>
            <a:off x="457200" y="493776"/>
            <a:ext cx="4937760" cy="82296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A client emails. Six agents coordinate.</a:t>
            </a:r>
            <a:endParaRPr lang="en-US" sz="2200" dirty="0"/>
          </a:p>
          <a:p>
            <a:pPr indent="0" marL="0">
              <a:buNone/>
            </a:pPr>
            <a:r>
              <a:rPr lang="en-US" sz="2200" b="1" dirty="0">
                <a:solidFill>
                  <a:srgbClr val="FFFFFF"/>
                </a:solidFill>
                <a:latin typeface="Cambria" pitchFamily="34" charset="0"/>
                <a:ea typeface="Cambria" pitchFamily="34" charset="-122"/>
                <a:cs typeface="Cambria" pitchFamily="34" charset="-120"/>
              </a:rPr>
              <a:t>You approve one plan.</a:t>
            </a:r>
            <a:endParaRPr lang="en-US" sz="2200" dirty="0"/>
          </a:p>
        </p:txBody>
      </p:sp>
      <p:sp>
        <p:nvSpPr>
          <p:cNvPr id="6" name="Shape 4"/>
          <p:cNvSpPr/>
          <p:nvPr/>
        </p:nvSpPr>
        <p:spPr>
          <a:xfrm>
            <a:off x="457200" y="1444752"/>
            <a:ext cx="4572000" cy="1097280"/>
          </a:xfrm>
          <a:prstGeom prst="roundRect">
            <a:avLst>
              <a:gd name="adj" fmla="val 6667"/>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621792" y="1517904"/>
            <a:ext cx="1828800" cy="182880"/>
          </a:xfrm>
          <a:prstGeom prst="rect">
            <a:avLst/>
          </a:prstGeom>
          <a:noFill/>
          <a:ln/>
        </p:spPr>
        <p:txBody>
          <a:bodyPr wrap="square" lIns="0" tIns="0" rIns="0" bIns="0" rtlCol="0" anchor="ctr"/>
          <a:lstStyle/>
          <a:p>
            <a:pPr indent="0" marL="0">
              <a:buNone/>
            </a:pPr>
            <a:r>
              <a:rPr lang="en-US" sz="850" b="1" spc="150" kern="0" dirty="0">
                <a:solidFill>
                  <a:srgbClr val="F59E0B"/>
                </a:solidFill>
                <a:latin typeface="Arial" pitchFamily="34" charset="0"/>
                <a:ea typeface="Arial" pitchFamily="34" charset="-122"/>
                <a:cs typeface="Arial" pitchFamily="34" charset="-120"/>
              </a:rPr>
              <a:t>TRIGGER EVENT</a:t>
            </a:r>
            <a:endParaRPr lang="en-US" sz="850" dirty="0"/>
          </a:p>
        </p:txBody>
      </p:sp>
      <p:sp>
        <p:nvSpPr>
          <p:cNvPr id="8" name="Text 6"/>
          <p:cNvSpPr/>
          <p:nvPr/>
        </p:nvSpPr>
        <p:spPr>
          <a:xfrm>
            <a:off x="621792" y="1737360"/>
            <a:ext cx="4206240" cy="713232"/>
          </a:xfrm>
          <a:prstGeom prst="rect">
            <a:avLst/>
          </a:prstGeom>
          <a:noFill/>
          <a:ln/>
        </p:spPr>
        <p:txBody>
          <a:bodyPr wrap="square" lIns="0" tIns="0" rIns="0" bIns="0" rtlCol="0" anchor="t"/>
          <a:lstStyle/>
          <a:p>
            <a:pPr indent="0" marL="0">
              <a:buNone/>
            </a:pPr>
            <a:r>
              <a:rPr lang="en-US" sz="1050" dirty="0">
                <a:solidFill>
                  <a:srgbClr val="E2E8F0"/>
                </a:solidFill>
                <a:latin typeface="Arial" pitchFamily="34" charset="0"/>
                <a:ea typeface="Arial" pitchFamily="34" charset="-122"/>
                <a:cs typeface="Arial" pitchFamily="34" charset="-120"/>
              </a:rPr>
              <a:t>From: sarah.tan@northwindlogistics.com</a:t>
            </a:r>
            <a:endParaRPr lang="en-US" sz="1050" dirty="0"/>
          </a:p>
          <a:p>
            <a:pPr indent="0" marL="0">
              <a:buNone/>
            </a:pPr>
            <a:r>
              <a:rPr lang="en-US" sz="1050" dirty="0">
                <a:solidFill>
                  <a:srgbClr val="E2E8F0"/>
                </a:solidFill>
                <a:latin typeface="Arial" pitchFamily="34" charset="0"/>
                <a:ea typeface="Arial" pitchFamily="34" charset="-122"/>
                <a:cs typeface="Arial" pitchFamily="34" charset="-120"/>
              </a:rPr>
              <a:t>Subject: Quick sync this week?</a:t>
            </a:r>
            <a:endParaRPr lang="en-US" sz="1050" dirty="0"/>
          </a:p>
          <a:p>
            <a:pPr indent="0" marL="0">
              <a:buNone/>
            </a:pPr>
            <a:r>
              <a:rPr lang="en-US" sz="1050" dirty="0">
                <a:solidFill>
                  <a:srgbClr val="E2E8F0"/>
                </a:solidFill>
                <a:latin typeface="Arial" pitchFamily="34" charset="0"/>
                <a:ea typeface="Arial" pitchFamily="34" charset="-122"/>
                <a:cs typeface="Arial" pitchFamily="34" charset="-120"/>
              </a:rPr>
              <a:t>'Could we grab 45 minutes to review Q3 automation rollout?'</a:t>
            </a:r>
            <a:endParaRPr lang="en-US" sz="1050" dirty="0"/>
          </a:p>
        </p:txBody>
      </p:sp>
      <p:sp>
        <p:nvSpPr>
          <p:cNvPr id="9" name="Shape 7"/>
          <p:cNvSpPr/>
          <p:nvPr/>
        </p:nvSpPr>
        <p:spPr>
          <a:xfrm>
            <a:off x="5212080" y="256032"/>
            <a:ext cx="1920240" cy="219456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0" name="Text 8"/>
          <p:cNvSpPr/>
          <p:nvPr/>
        </p:nvSpPr>
        <p:spPr>
          <a:xfrm>
            <a:off x="5340096" y="365760"/>
            <a:ext cx="347472" cy="347472"/>
          </a:xfrm>
          <a:prstGeom prst="rect">
            <a:avLst/>
          </a:prstGeom>
          <a:noFill/>
          <a:ln/>
        </p:spPr>
        <p:txBody>
          <a:bodyPr wrap="square" lIns="0" tIns="0" rIns="0" bIns="0" rtlCol="0" anchor="ctr"/>
          <a:lstStyle/>
          <a:p>
            <a:pPr algn="ctr" indent="0" marL="0">
              <a:buNone/>
            </a:pPr>
            <a:r>
              <a:rPr lang="en-US" sz="1500" b="1" dirty="0">
                <a:solidFill>
                  <a:srgbClr val="3B82F6"/>
                </a:solidFill>
                <a:latin typeface="Cambria" pitchFamily="34" charset="0"/>
                <a:ea typeface="Cambria" pitchFamily="34" charset="-122"/>
                <a:cs typeface="Cambria" pitchFamily="34" charset="-120"/>
              </a:rPr>
              <a:t>1</a:t>
            </a:r>
            <a:endParaRPr lang="en-US" sz="1500" dirty="0"/>
          </a:p>
        </p:txBody>
      </p:sp>
      <p:sp>
        <p:nvSpPr>
          <p:cNvPr id="11" name="Text 9"/>
          <p:cNvSpPr/>
          <p:nvPr/>
        </p:nvSpPr>
        <p:spPr>
          <a:xfrm>
            <a:off x="5340096" y="749808"/>
            <a:ext cx="1691640" cy="329184"/>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Memory Retrieved</a:t>
            </a:r>
            <a:endParaRPr lang="en-US" sz="1150" dirty="0"/>
          </a:p>
        </p:txBody>
      </p:sp>
      <p:sp>
        <p:nvSpPr>
          <p:cNvPr id="12" name="Text 10"/>
          <p:cNvSpPr/>
          <p:nvPr/>
        </p:nvSpPr>
        <p:spPr>
          <a:xfrm>
            <a:off x="5340096" y="1097280"/>
            <a:ext cx="1691640" cy="1234440"/>
          </a:xfrm>
          <a:prstGeom prst="rect">
            <a:avLst/>
          </a:prstGeom>
          <a:noFill/>
          <a:ln/>
        </p:spPr>
        <p:txBody>
          <a:bodyPr wrap="square" lIns="0" tIns="0" rIns="0" bIns="0" rtlCol="0" anchor="t"/>
          <a:lstStyle/>
          <a:p>
            <a:pPr indent="0" marL="0">
              <a:buNone/>
            </a:pPr>
            <a:r>
              <a:rPr lang="en-US" sz="1000" dirty="0">
                <a:solidFill>
                  <a:srgbClr val="94A3B8"/>
                </a:solidFill>
                <a:latin typeface="Arial" pitchFamily="34" charset="0"/>
                <a:ea typeface="Arial" pitchFamily="34" charset="-122"/>
                <a:cs typeface="Arial" pitchFamily="34" charset="-120"/>
              </a:rPr>
              <a:t>Research Agent pulls Northwind client record, tone preferences, last meeting outcome via semantic search.</a:t>
            </a:r>
            <a:endParaRPr lang="en-US" sz="1000" dirty="0"/>
          </a:p>
        </p:txBody>
      </p:sp>
      <p:sp>
        <p:nvSpPr>
          <p:cNvPr id="13" name="Shape 11"/>
          <p:cNvSpPr/>
          <p:nvPr/>
        </p:nvSpPr>
        <p:spPr>
          <a:xfrm>
            <a:off x="7269480" y="256032"/>
            <a:ext cx="1920240" cy="219456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4" name="Text 12"/>
          <p:cNvSpPr/>
          <p:nvPr/>
        </p:nvSpPr>
        <p:spPr>
          <a:xfrm>
            <a:off x="7397496" y="365760"/>
            <a:ext cx="347472" cy="347472"/>
          </a:xfrm>
          <a:prstGeom prst="rect">
            <a:avLst/>
          </a:prstGeom>
          <a:noFill/>
          <a:ln/>
        </p:spPr>
        <p:txBody>
          <a:bodyPr wrap="square" lIns="0" tIns="0" rIns="0" bIns="0" rtlCol="0" anchor="ctr"/>
          <a:lstStyle/>
          <a:p>
            <a:pPr algn="ctr" indent="0" marL="0">
              <a:buNone/>
            </a:pPr>
            <a:r>
              <a:rPr lang="en-US" sz="1500" b="1" dirty="0">
                <a:solidFill>
                  <a:srgbClr val="8B5CF6"/>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7397496" y="749808"/>
            <a:ext cx="1691640" cy="329184"/>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Agents Run in Sequence</a:t>
            </a:r>
            <a:endParaRPr lang="en-US" sz="1150" dirty="0"/>
          </a:p>
        </p:txBody>
      </p:sp>
      <p:sp>
        <p:nvSpPr>
          <p:cNvPr id="16" name="Text 14"/>
          <p:cNvSpPr/>
          <p:nvPr/>
        </p:nvSpPr>
        <p:spPr>
          <a:xfrm>
            <a:off x="7397496" y="1097280"/>
            <a:ext cx="1691640" cy="1234440"/>
          </a:xfrm>
          <a:prstGeom prst="rect">
            <a:avLst/>
          </a:prstGeom>
          <a:noFill/>
          <a:ln/>
        </p:spPr>
        <p:txBody>
          <a:bodyPr wrap="square" lIns="0" tIns="0" rIns="0" bIns="0" rtlCol="0" anchor="t"/>
          <a:lstStyle/>
          <a:p>
            <a:pPr indent="0" marL="0">
              <a:buNone/>
            </a:pPr>
            <a:r>
              <a:rPr lang="en-US" sz="1000" dirty="0">
                <a:solidFill>
                  <a:srgbClr val="94A3B8"/>
                </a:solidFill>
                <a:latin typeface="Arial" pitchFamily="34" charset="0"/>
                <a:ea typeface="Arial" pitchFamily="34" charset="-122"/>
                <a:cs typeface="Arial" pitchFamily="34" charset="-120"/>
              </a:rPr>
              <a:t>Email → Research → Calendar → Reporting → Compliance — each adding its layer of analysis and context.</a:t>
            </a:r>
            <a:endParaRPr lang="en-US" sz="1000" dirty="0"/>
          </a:p>
        </p:txBody>
      </p:sp>
      <p:sp>
        <p:nvSpPr>
          <p:cNvPr id="17" name="Shape 15"/>
          <p:cNvSpPr/>
          <p:nvPr/>
        </p:nvSpPr>
        <p:spPr>
          <a:xfrm>
            <a:off x="5212080" y="2633472"/>
            <a:ext cx="1920240" cy="219456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8" name="Text 16"/>
          <p:cNvSpPr/>
          <p:nvPr/>
        </p:nvSpPr>
        <p:spPr>
          <a:xfrm>
            <a:off x="5340096" y="2743200"/>
            <a:ext cx="347472" cy="347472"/>
          </a:xfrm>
          <a:prstGeom prst="rect">
            <a:avLst/>
          </a:prstGeom>
          <a:noFill/>
          <a:ln/>
        </p:spPr>
        <p:txBody>
          <a:bodyPr wrap="square" lIns="0" tIns="0" rIns="0" bIns="0" rtlCol="0" anchor="ctr"/>
          <a:lstStyle/>
          <a:p>
            <a:pPr algn="ctr" indent="0" marL="0">
              <a:buNone/>
            </a:pPr>
            <a:r>
              <a:rPr lang="en-US" sz="1500" b="1" dirty="0">
                <a:solidFill>
                  <a:srgbClr val="10B981"/>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5340096" y="3127248"/>
            <a:ext cx="1691640" cy="329184"/>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Compliance Check</a:t>
            </a:r>
            <a:endParaRPr lang="en-US" sz="1150" dirty="0"/>
          </a:p>
        </p:txBody>
      </p:sp>
      <p:sp>
        <p:nvSpPr>
          <p:cNvPr id="20" name="Text 18"/>
          <p:cNvSpPr/>
          <p:nvPr/>
        </p:nvSpPr>
        <p:spPr>
          <a:xfrm>
            <a:off x="5340096" y="3474720"/>
            <a:ext cx="1691640" cy="1234440"/>
          </a:xfrm>
          <a:prstGeom prst="rect">
            <a:avLst/>
          </a:prstGeom>
          <a:noFill/>
          <a:ln/>
        </p:spPr>
        <p:txBody>
          <a:bodyPr wrap="square" lIns="0" tIns="0" rIns="0" bIns="0" rtlCol="0" anchor="t"/>
          <a:lstStyle/>
          <a:p>
            <a:pPr indent="0" marL="0">
              <a:buNone/>
            </a:pPr>
            <a:r>
              <a:rPr lang="en-US" sz="1000" dirty="0">
                <a:solidFill>
                  <a:srgbClr val="94A3B8"/>
                </a:solidFill>
                <a:latin typeface="Arial" pitchFamily="34" charset="0"/>
                <a:ea typeface="Arial" pitchFamily="34" charset="-122"/>
                <a:cs typeface="Arial" pitchFamily="34" charset="-120"/>
              </a:rPr>
              <a:t>Compliance Agent reviews the full plan. APPROVED — no policy concerns flagged. Outcome logged.</a:t>
            </a:r>
            <a:endParaRPr lang="en-US" sz="1000" dirty="0"/>
          </a:p>
        </p:txBody>
      </p:sp>
      <p:sp>
        <p:nvSpPr>
          <p:cNvPr id="21" name="Shape 19"/>
          <p:cNvSpPr/>
          <p:nvPr/>
        </p:nvSpPr>
        <p:spPr>
          <a:xfrm>
            <a:off x="7269480" y="2633472"/>
            <a:ext cx="1920240" cy="2194560"/>
          </a:xfrm>
          <a:prstGeom prst="roundRect">
            <a:avLst>
              <a:gd name="adj" fmla="val 381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22" name="Text 20"/>
          <p:cNvSpPr/>
          <p:nvPr/>
        </p:nvSpPr>
        <p:spPr>
          <a:xfrm>
            <a:off x="7397496" y="2743200"/>
            <a:ext cx="347472" cy="347472"/>
          </a:xfrm>
          <a:prstGeom prst="rect">
            <a:avLst/>
          </a:prstGeom>
          <a:noFill/>
          <a:ln/>
        </p:spPr>
        <p:txBody>
          <a:bodyPr wrap="square" lIns="0" tIns="0" rIns="0" bIns="0" rtlCol="0" anchor="ctr"/>
          <a:lstStyle/>
          <a:p>
            <a:pPr algn="ctr" indent="0" marL="0">
              <a:buNone/>
            </a:pPr>
            <a:r>
              <a:rPr lang="en-US" sz="1500" b="1" dirty="0">
                <a:solidFill>
                  <a:srgbClr val="F59E0B"/>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7397496" y="3127248"/>
            <a:ext cx="1691640" cy="329184"/>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You Approve</a:t>
            </a:r>
            <a:endParaRPr lang="en-US" sz="1150" dirty="0"/>
          </a:p>
        </p:txBody>
      </p:sp>
      <p:sp>
        <p:nvSpPr>
          <p:cNvPr id="24" name="Text 22"/>
          <p:cNvSpPr/>
          <p:nvPr/>
        </p:nvSpPr>
        <p:spPr>
          <a:xfrm>
            <a:off x="7397496" y="3474720"/>
            <a:ext cx="1691640" cy="1234440"/>
          </a:xfrm>
          <a:prstGeom prst="rect">
            <a:avLst/>
          </a:prstGeom>
          <a:noFill/>
          <a:ln/>
        </p:spPr>
        <p:txBody>
          <a:bodyPr wrap="square" lIns="0" tIns="0" rIns="0" bIns="0" rtlCol="0" anchor="t"/>
          <a:lstStyle/>
          <a:p>
            <a:pPr indent="0" marL="0">
              <a:buNone/>
            </a:pPr>
            <a:r>
              <a:rPr lang="en-US" sz="1000" dirty="0">
                <a:solidFill>
                  <a:srgbClr val="94A3B8"/>
                </a:solidFill>
                <a:latin typeface="Arial" pitchFamily="34" charset="0"/>
                <a:ea typeface="Arial" pitchFamily="34" charset="-122"/>
                <a:cs typeface="Arial" pitchFamily="34" charset="-120"/>
              </a:rPr>
              <a:t>Executive Agent presents a 3-action plan. One tap approves. Calendar event + email reply created in Google Workspace.</a:t>
            </a:r>
            <a:endParaRPr lang="en-US" sz="1000" dirty="0"/>
          </a:p>
        </p:txBody>
      </p:sp>
      <p:sp>
        <p:nvSpPr>
          <p:cNvPr id="25" name="Shape 23"/>
          <p:cNvSpPr/>
          <p:nvPr/>
        </p:nvSpPr>
        <p:spPr>
          <a:xfrm>
            <a:off x="457200" y="2633472"/>
            <a:ext cx="4572000" cy="822960"/>
          </a:xfrm>
          <a:prstGeom prst="roundRect">
            <a:avLst>
              <a:gd name="adj" fmla="val 8889"/>
            </a:avLst>
          </a:prstGeom>
          <a:solidFill>
            <a:srgbClr val="0A1F10"/>
          </a:solidFill>
          <a:ln w="12700">
            <a:solidFill>
              <a:srgbClr val="10B981"/>
            </a:solidFill>
            <a:prstDash val="solid"/>
          </a:ln>
          <a:effectLst>
            <a:outerShdw sx="100000" sy="100000" kx="0" ky="0" algn="bl" rotWithShape="0" blurRad="127000" dist="38100" dir="2700000">
              <a:srgbClr val="000000">
                <a:alpha val="25000"/>
              </a:srgbClr>
            </a:outerShdw>
          </a:effectLst>
        </p:spPr>
      </p:sp>
      <p:sp>
        <p:nvSpPr>
          <p:cNvPr id="26" name="Text 24"/>
          <p:cNvSpPr/>
          <p:nvPr/>
        </p:nvSpPr>
        <p:spPr>
          <a:xfrm>
            <a:off x="621792" y="2724912"/>
            <a:ext cx="4251960" cy="640080"/>
          </a:xfrm>
          <a:prstGeom prst="rect">
            <a:avLst/>
          </a:prstGeom>
          <a:noFill/>
          <a:ln/>
        </p:spPr>
        <p:txBody>
          <a:bodyPr wrap="square" lIns="0" tIns="0" rIns="0" bIns="0" rtlCol="0" anchor="ctr"/>
          <a:lstStyle/>
          <a:p>
            <a:pPr indent="0" marL="0">
              <a:buNone/>
            </a:pPr>
            <a:r>
              <a:rPr lang="en-US" sz="1050" dirty="0">
                <a:solidFill>
                  <a:srgbClr val="10B981"/>
                </a:solidFill>
                <a:latin typeface="Arial" pitchFamily="34" charset="0"/>
                <a:ea typeface="Arial" pitchFamily="34" charset="-122"/>
                <a:cs typeface="Arial" pitchFamily="34" charset="-120"/>
              </a:rPr>
              <a:t>✓  Executed — calendar event created · email sent · outcome saved to memory · 6 agent steps logged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6 / 12</a:t>
            </a:r>
            <a:endParaRPr lang="en-US" sz="900" dirty="0"/>
          </a:p>
        </p:txBody>
      </p:sp>
      <p:sp>
        <p:nvSpPr>
          <p:cNvPr id="4" name="Text 2"/>
          <p:cNvSpPr/>
          <p:nvPr/>
        </p:nvSpPr>
        <p:spPr>
          <a:xfrm>
            <a:off x="457200" y="292608"/>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TECHNOLOGY STACK</a:t>
            </a:r>
            <a:endParaRPr lang="en-US" sz="900" dirty="0"/>
          </a:p>
        </p:txBody>
      </p:sp>
      <p:sp>
        <p:nvSpPr>
          <p:cNvPr id="5" name="Text 3"/>
          <p:cNvSpPr/>
          <p:nvPr/>
        </p:nvSpPr>
        <p:spPr>
          <a:xfrm>
            <a:off x="457200" y="493776"/>
            <a:ext cx="4389120" cy="82296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Production-grade infrastructure.</a:t>
            </a:r>
            <a:endParaRPr lang="en-US" sz="2400" dirty="0"/>
          </a:p>
          <a:p>
            <a:pPr indent="0" marL="0">
              <a:buNone/>
            </a:pPr>
            <a:r>
              <a:rPr lang="en-US" sz="2400" b="1" dirty="0">
                <a:solidFill>
                  <a:srgbClr val="FFFFFF"/>
                </a:solidFill>
                <a:latin typeface="Cambria" pitchFamily="34" charset="0"/>
                <a:ea typeface="Cambria" pitchFamily="34" charset="-122"/>
                <a:cs typeface="Cambria" pitchFamily="34" charset="-120"/>
              </a:rPr>
              <a:t>Deployable in 5 minutes.</a:t>
            </a:r>
            <a:endParaRPr lang="en-US" sz="2400" dirty="0"/>
          </a:p>
        </p:txBody>
      </p:sp>
      <p:sp>
        <p:nvSpPr>
          <p:cNvPr id="6" name="Shape 4"/>
          <p:cNvSpPr/>
          <p:nvPr/>
        </p:nvSpPr>
        <p:spPr>
          <a:xfrm>
            <a:off x="411480" y="1444752"/>
            <a:ext cx="4160520" cy="1554480"/>
          </a:xfrm>
          <a:prstGeom prst="roundRect">
            <a:avLst>
              <a:gd name="adj" fmla="val 4706"/>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576072" y="1572768"/>
            <a:ext cx="3794760" cy="256032"/>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AI &amp; Orchestration</a:t>
            </a:r>
            <a:endParaRPr lang="en-US" sz="1200" dirty="0"/>
          </a:p>
        </p:txBody>
      </p:sp>
      <p:sp>
        <p:nvSpPr>
          <p:cNvPr id="8" name="Text 6"/>
          <p:cNvSpPr/>
          <p:nvPr/>
        </p:nvSpPr>
        <p:spPr>
          <a:xfrm>
            <a:off x="576072" y="1883664"/>
            <a:ext cx="3840480" cy="100584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Claude Sonnet (Anthropic) — 7 agent system prompts</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WebSocket streaming for real-time agent output</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Agent Builder for custom agent/pipeline creation</a:t>
            </a:r>
            <a:endParaRPr lang="en-US" sz="1000" dirty="0"/>
          </a:p>
        </p:txBody>
      </p:sp>
      <p:sp>
        <p:nvSpPr>
          <p:cNvPr id="9" name="Shape 7"/>
          <p:cNvSpPr/>
          <p:nvPr/>
        </p:nvSpPr>
        <p:spPr>
          <a:xfrm>
            <a:off x="4800600" y="1444752"/>
            <a:ext cx="4160520" cy="1554480"/>
          </a:xfrm>
          <a:prstGeom prst="roundRect">
            <a:avLst>
              <a:gd name="adj" fmla="val 4706"/>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0" name="Text 8"/>
          <p:cNvSpPr/>
          <p:nvPr/>
        </p:nvSpPr>
        <p:spPr>
          <a:xfrm>
            <a:off x="4965192" y="1572768"/>
            <a:ext cx="3794760" cy="256032"/>
          </a:xfrm>
          <a:prstGeom prst="rect">
            <a:avLst/>
          </a:prstGeom>
          <a:noFill/>
          <a:ln/>
        </p:spPr>
        <p:txBody>
          <a:bodyPr wrap="square" lIns="0" tIns="0" rIns="0" bIns="0" rtlCol="0" anchor="ctr"/>
          <a:lstStyle/>
          <a:p>
            <a:pPr indent="0" marL="0">
              <a:buNone/>
            </a:pPr>
            <a:r>
              <a:rPr lang="en-US" sz="1200" b="1" dirty="0">
                <a:solidFill>
                  <a:srgbClr val="3B82F6"/>
                </a:solidFill>
                <a:latin typeface="Cambria" pitchFamily="34" charset="0"/>
                <a:ea typeface="Cambria" pitchFamily="34" charset="-122"/>
                <a:cs typeface="Cambria" pitchFamily="34" charset="-120"/>
              </a:rPr>
              <a:t>Memory &amp; RAG</a:t>
            </a:r>
            <a:endParaRPr lang="en-US" sz="1200" dirty="0"/>
          </a:p>
        </p:txBody>
      </p:sp>
      <p:sp>
        <p:nvSpPr>
          <p:cNvPr id="11" name="Text 9"/>
          <p:cNvSpPr/>
          <p:nvPr/>
        </p:nvSpPr>
        <p:spPr>
          <a:xfrm>
            <a:off x="4965192" y="1883664"/>
            <a:ext cx="3840480" cy="100584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PostgreSQL + pgvector extension</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sentence-transformers (384-dim embeddings)</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HNSW index for sub-100ms cosine similarity search</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Keyword fallback + semantic reranking</a:t>
            </a:r>
            <a:endParaRPr lang="en-US" sz="1000" dirty="0"/>
          </a:p>
        </p:txBody>
      </p:sp>
      <p:sp>
        <p:nvSpPr>
          <p:cNvPr id="12" name="Shape 10"/>
          <p:cNvSpPr/>
          <p:nvPr/>
        </p:nvSpPr>
        <p:spPr>
          <a:xfrm>
            <a:off x="411480" y="3136392"/>
            <a:ext cx="4160520" cy="1554480"/>
          </a:xfrm>
          <a:prstGeom prst="roundRect">
            <a:avLst>
              <a:gd name="adj" fmla="val 4706"/>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3" name="Text 11"/>
          <p:cNvSpPr/>
          <p:nvPr/>
        </p:nvSpPr>
        <p:spPr>
          <a:xfrm>
            <a:off x="576072" y="3264408"/>
            <a:ext cx="3794760" cy="256032"/>
          </a:xfrm>
          <a:prstGeom prst="rect">
            <a:avLst/>
          </a:prstGeom>
          <a:noFill/>
          <a:ln/>
        </p:spPr>
        <p:txBody>
          <a:bodyPr wrap="square" lIns="0" tIns="0" rIns="0" bIns="0" rtlCol="0" anchor="ctr"/>
          <a:lstStyle/>
          <a:p>
            <a:pPr indent="0" marL="0">
              <a:buNone/>
            </a:pPr>
            <a:r>
              <a:rPr lang="en-US" sz="1200" b="1" dirty="0">
                <a:solidFill>
                  <a:srgbClr val="10B981"/>
                </a:solidFill>
                <a:latin typeface="Cambria" pitchFamily="34" charset="0"/>
                <a:ea typeface="Cambria" pitchFamily="34" charset="-122"/>
                <a:cs typeface="Cambria" pitchFamily="34" charset="-120"/>
              </a:rPr>
              <a:t>Backend</a:t>
            </a:r>
            <a:endParaRPr lang="en-US" sz="1200" dirty="0"/>
          </a:p>
        </p:txBody>
      </p:sp>
      <p:sp>
        <p:nvSpPr>
          <p:cNvPr id="14" name="Text 12"/>
          <p:cNvSpPr/>
          <p:nvPr/>
        </p:nvSpPr>
        <p:spPr>
          <a:xfrm>
            <a:off x="576072" y="3575304"/>
            <a:ext cx="3840480" cy="100584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FastAPI (Python 3.12) — async REST + WebSocket</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SQLAlchemy async ORM — 11-table schema</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Alembic migrations (2 revisions)</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Docker + Docker Compose — 1-command deploy</a:t>
            </a:r>
            <a:endParaRPr lang="en-US" sz="1000" dirty="0"/>
          </a:p>
        </p:txBody>
      </p:sp>
      <p:sp>
        <p:nvSpPr>
          <p:cNvPr id="15" name="Shape 13"/>
          <p:cNvSpPr/>
          <p:nvPr/>
        </p:nvSpPr>
        <p:spPr>
          <a:xfrm>
            <a:off x="4800600" y="3136392"/>
            <a:ext cx="4160520" cy="1554480"/>
          </a:xfrm>
          <a:prstGeom prst="roundRect">
            <a:avLst>
              <a:gd name="adj" fmla="val 4706"/>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6" name="Text 14"/>
          <p:cNvSpPr/>
          <p:nvPr/>
        </p:nvSpPr>
        <p:spPr>
          <a:xfrm>
            <a:off x="4965192" y="3264408"/>
            <a:ext cx="3794760" cy="256032"/>
          </a:xfrm>
          <a:prstGeom prst="rect">
            <a:avLst/>
          </a:prstGeom>
          <a:noFill/>
          <a:ln/>
        </p:spPr>
        <p:txBody>
          <a:bodyPr wrap="square" lIns="0" tIns="0" rIns="0" bIns="0" rtlCol="0" anchor="ctr"/>
          <a:lstStyle/>
          <a:p>
            <a:pPr indent="0" marL="0">
              <a:buNone/>
            </a:pPr>
            <a:r>
              <a:rPr lang="en-US" sz="1200" b="1" dirty="0">
                <a:solidFill>
                  <a:srgbClr val="8B5CF6"/>
                </a:solidFill>
                <a:latin typeface="Cambria" pitchFamily="34" charset="0"/>
                <a:ea typeface="Cambria" pitchFamily="34" charset="-122"/>
                <a:cs typeface="Cambria" pitchFamily="34" charset="-120"/>
              </a:rPr>
              <a:t>Integrations</a:t>
            </a:r>
            <a:endParaRPr lang="en-US" sz="1200" dirty="0"/>
          </a:p>
        </p:txBody>
      </p:sp>
      <p:sp>
        <p:nvSpPr>
          <p:cNvPr id="17" name="Text 15"/>
          <p:cNvSpPr/>
          <p:nvPr/>
        </p:nvSpPr>
        <p:spPr>
          <a:xfrm>
            <a:off x="4965192" y="3575304"/>
            <a:ext cx="3840480" cy="100584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Google OAuth2 — Gmail, Calendar, Sheets, Docs, Drive</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On-approval execution: real events, docs, sheet rows</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JWT auth + multi-tenant org isolation</a:t>
            </a:r>
            <a:endParaRPr lang="en-US" sz="1000" dirty="0"/>
          </a:p>
          <a:p>
            <a:pPr marL="342900" indent="-342900">
              <a:spcAft>
                <a:spcPts val="200"/>
              </a:spcAft>
              <a:buSzPct val="100000"/>
              <a:buChar char="•"/>
            </a:pPr>
            <a:r>
              <a:rPr lang="en-US" sz="1000" dirty="0">
                <a:solidFill>
                  <a:srgbClr val="E2E8F0"/>
                </a:solidFill>
                <a:latin typeface="Arial" pitchFamily="34" charset="0"/>
                <a:ea typeface="Arial" pitchFamily="34" charset="-122"/>
                <a:cs typeface="Arial" pitchFamily="34" charset="-120"/>
              </a:rPr>
              <a:t>Monitoring: /health, /usage, /agent-runs endpoints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60F"/>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7 / 12</a:t>
            </a:r>
            <a:endParaRPr lang="en-US" sz="900" dirty="0"/>
          </a:p>
        </p:txBody>
      </p:sp>
      <p:sp>
        <p:nvSpPr>
          <p:cNvPr id="4" name="Text 2"/>
          <p:cNvSpPr/>
          <p:nvPr/>
        </p:nvSpPr>
        <p:spPr>
          <a:xfrm>
            <a:off x="457200" y="256032"/>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ARCHITECTURE</a:t>
            </a:r>
            <a:endParaRPr lang="en-US" sz="900" dirty="0"/>
          </a:p>
        </p:txBody>
      </p:sp>
      <p:sp>
        <p:nvSpPr>
          <p:cNvPr id="5" name="Text 3"/>
          <p:cNvSpPr/>
          <p:nvPr/>
        </p:nvSpPr>
        <p:spPr>
          <a:xfrm>
            <a:off x="457200" y="457200"/>
            <a:ext cx="54864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Orchestration Engine</a:t>
            </a:r>
            <a:endParaRPr lang="en-US" sz="2600" dirty="0"/>
          </a:p>
        </p:txBody>
      </p:sp>
      <p:sp>
        <p:nvSpPr>
          <p:cNvPr id="6" name="Shape 4"/>
          <p:cNvSpPr/>
          <p:nvPr/>
        </p:nvSpPr>
        <p:spPr>
          <a:xfrm>
            <a:off x="274320" y="1115568"/>
            <a:ext cx="1371600" cy="2743200"/>
          </a:xfrm>
          <a:prstGeom prst="roundRect">
            <a:avLst>
              <a:gd name="adj" fmla="val 6667"/>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292608" y="1170432"/>
            <a:ext cx="1335024" cy="201168"/>
          </a:xfrm>
          <a:prstGeom prst="rect">
            <a:avLst/>
          </a:prstGeom>
          <a:noFill/>
          <a:ln/>
        </p:spPr>
        <p:txBody>
          <a:bodyPr wrap="square" lIns="0" tIns="0" rIns="0" bIns="0" rtlCol="0" anchor="ctr"/>
          <a:lstStyle/>
          <a:p>
            <a:pPr algn="ctr" indent="0" marL="0">
              <a:buNone/>
            </a:pPr>
            <a:r>
              <a:rPr lang="en-US" sz="800" b="1" spc="150" kern="0" dirty="0">
                <a:solidFill>
                  <a:srgbClr val="F59E0B"/>
                </a:solidFill>
                <a:latin typeface="Arial" pitchFamily="34" charset="0"/>
                <a:ea typeface="Arial" pitchFamily="34" charset="-122"/>
                <a:cs typeface="Arial" pitchFamily="34" charset="-120"/>
              </a:rPr>
              <a:t>TRIGGER</a:t>
            </a:r>
            <a:endParaRPr lang="en-US" sz="800" dirty="0"/>
          </a:p>
        </p:txBody>
      </p:sp>
      <p:sp>
        <p:nvSpPr>
          <p:cNvPr id="8" name="Text 6"/>
          <p:cNvSpPr/>
          <p:nvPr/>
        </p:nvSpPr>
        <p:spPr>
          <a:xfrm>
            <a:off x="347472" y="1444752"/>
            <a:ext cx="1234440" cy="402336"/>
          </a:xfrm>
          <a:prstGeom prst="rect">
            <a:avLst/>
          </a:prstGeom>
          <a:noFill/>
          <a:ln/>
        </p:spPr>
        <p:txBody>
          <a:bodyPr wrap="square" lIns="0" tIns="0" rIns="0" bIns="0"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 Email</a:t>
            </a:r>
            <a:endParaRPr lang="en-US" sz="950" dirty="0"/>
          </a:p>
        </p:txBody>
      </p:sp>
      <p:sp>
        <p:nvSpPr>
          <p:cNvPr id="9" name="Text 7"/>
          <p:cNvSpPr/>
          <p:nvPr/>
        </p:nvSpPr>
        <p:spPr>
          <a:xfrm>
            <a:off x="347472" y="1956816"/>
            <a:ext cx="1234440" cy="402336"/>
          </a:xfrm>
          <a:prstGeom prst="rect">
            <a:avLst/>
          </a:prstGeom>
          <a:noFill/>
          <a:ln/>
        </p:spPr>
        <p:txBody>
          <a:bodyPr wrap="square" lIns="0" tIns="0" rIns="0" bIns="0"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 Webhook</a:t>
            </a:r>
            <a:endParaRPr lang="en-US" sz="950" dirty="0"/>
          </a:p>
        </p:txBody>
      </p:sp>
      <p:sp>
        <p:nvSpPr>
          <p:cNvPr id="10" name="Text 8"/>
          <p:cNvSpPr/>
          <p:nvPr/>
        </p:nvSpPr>
        <p:spPr>
          <a:xfrm>
            <a:off x="347472" y="2468880"/>
            <a:ext cx="1234440" cy="402336"/>
          </a:xfrm>
          <a:prstGeom prst="rect">
            <a:avLst/>
          </a:prstGeom>
          <a:noFill/>
          <a:ln/>
        </p:spPr>
        <p:txBody>
          <a:bodyPr wrap="square" lIns="0" tIns="0" rIns="0" bIns="0"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 Data snapshot</a:t>
            </a:r>
            <a:endParaRPr lang="en-US" sz="950" dirty="0"/>
          </a:p>
        </p:txBody>
      </p:sp>
      <p:sp>
        <p:nvSpPr>
          <p:cNvPr id="11" name="Shape 9"/>
          <p:cNvSpPr/>
          <p:nvPr/>
        </p:nvSpPr>
        <p:spPr>
          <a:xfrm>
            <a:off x="1682496" y="2487168"/>
            <a:ext cx="256032" cy="0"/>
          </a:xfrm>
          <a:prstGeom prst="line">
            <a:avLst/>
          </a:prstGeom>
          <a:noFill/>
          <a:ln w="19050">
            <a:solidFill>
              <a:srgbClr val="F59E0B"/>
            </a:solidFill>
            <a:prstDash val="solid"/>
          </a:ln>
        </p:spPr>
      </p:sp>
      <p:sp>
        <p:nvSpPr>
          <p:cNvPr id="12" name="Text 10"/>
          <p:cNvSpPr/>
          <p:nvPr/>
        </p:nvSpPr>
        <p:spPr>
          <a:xfrm>
            <a:off x="1865376" y="2350008"/>
            <a:ext cx="164592" cy="274320"/>
          </a:xfrm>
          <a:prstGeom prst="rect">
            <a:avLst/>
          </a:prstGeom>
          <a:noFill/>
          <a:ln/>
        </p:spPr>
        <p:txBody>
          <a:bodyPr wrap="square" lIns="0" tIns="0" rIns="0" bIns="0" rtlCol="0" anchor="ctr"/>
          <a:lstStyle/>
          <a:p>
            <a:pPr algn="l"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1965960" y="1115568"/>
            <a:ext cx="1645920" cy="2743200"/>
          </a:xfrm>
          <a:prstGeom prst="roundRect">
            <a:avLst>
              <a:gd name="adj" fmla="val 5556"/>
            </a:avLst>
          </a:prstGeom>
          <a:solidFill>
            <a:srgbClr val="1A1500"/>
          </a:solidFill>
          <a:ln w="15240">
            <a:solidFill>
              <a:srgbClr val="F59E0B"/>
            </a:solidFill>
            <a:prstDash val="solid"/>
          </a:ln>
          <a:effectLst>
            <a:outerShdw sx="100000" sy="100000" kx="0" ky="0" algn="bl" rotWithShape="0" blurRad="177800" dist="50800" dir="2700000">
              <a:srgbClr val="000000">
                <a:alpha val="40000"/>
              </a:srgbClr>
            </a:outerShdw>
          </a:effectLst>
        </p:spPr>
      </p:sp>
      <p:sp>
        <p:nvSpPr>
          <p:cNvPr id="14" name="Text 12"/>
          <p:cNvSpPr/>
          <p:nvPr/>
        </p:nvSpPr>
        <p:spPr>
          <a:xfrm>
            <a:off x="1965960" y="1188720"/>
            <a:ext cx="164592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2011680" y="1719072"/>
            <a:ext cx="1554480" cy="475488"/>
          </a:xfrm>
          <a:prstGeom prst="rect">
            <a:avLst/>
          </a:prstGeom>
          <a:noFill/>
          <a:ln/>
        </p:spPr>
        <p:txBody>
          <a:bodyPr wrap="square" lIns="0" tIns="0" rIns="0" bIns="0" rtlCol="0" anchor="ctr"/>
          <a:lstStyle/>
          <a:p>
            <a:pPr algn="ctr" indent="0" marL="0">
              <a:buNone/>
            </a:pPr>
            <a:r>
              <a:rPr lang="en-US" sz="1100" b="1" dirty="0">
                <a:solidFill>
                  <a:srgbClr val="F59E0B"/>
                </a:solidFill>
                <a:latin typeface="Cambria" pitchFamily="34" charset="0"/>
                <a:ea typeface="Cambria" pitchFamily="34" charset="-122"/>
                <a:cs typeface="Cambria" pitchFamily="34" charset="-120"/>
              </a:rPr>
              <a:t>Executive</a:t>
            </a:r>
            <a:endParaRPr lang="en-US" sz="1100" dirty="0"/>
          </a:p>
          <a:p>
            <a:pPr algn="ctr" indent="0" marL="0">
              <a:buNone/>
            </a:pPr>
            <a:r>
              <a:rPr lang="en-US" sz="1100" b="1" dirty="0">
                <a:solidFill>
                  <a:srgbClr val="F59E0B"/>
                </a:solidFill>
                <a:latin typeface="Cambria" pitchFamily="34" charset="0"/>
                <a:ea typeface="Cambria" pitchFamily="34" charset="-122"/>
                <a:cs typeface="Cambria" pitchFamily="34" charset="-120"/>
              </a:rPr>
              <a:t>Agent</a:t>
            </a:r>
            <a:endParaRPr lang="en-US" sz="1100" dirty="0"/>
          </a:p>
        </p:txBody>
      </p:sp>
      <p:sp>
        <p:nvSpPr>
          <p:cNvPr id="16" name="Text 14"/>
          <p:cNvSpPr/>
          <p:nvPr/>
        </p:nvSpPr>
        <p:spPr>
          <a:xfrm>
            <a:off x="2011680" y="2212848"/>
            <a:ext cx="1554480" cy="201168"/>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Orchestrator</a:t>
            </a:r>
            <a:endParaRPr lang="en-US" sz="850" dirty="0"/>
          </a:p>
        </p:txBody>
      </p:sp>
      <p:sp>
        <p:nvSpPr>
          <p:cNvPr id="17" name="Text 15"/>
          <p:cNvSpPr/>
          <p:nvPr/>
        </p:nvSpPr>
        <p:spPr>
          <a:xfrm>
            <a:off x="2011680" y="2468880"/>
            <a:ext cx="1554480" cy="402336"/>
          </a:xfrm>
          <a:prstGeom prst="rect">
            <a:avLst/>
          </a:prstGeom>
          <a:noFill/>
          <a:ln/>
        </p:spPr>
        <p:txBody>
          <a:bodyPr wrap="square" lIns="0" tIns="0" rIns="0" bIns="0"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Routes tasks</a:t>
            </a:r>
            <a:endParaRPr lang="en-US" sz="900" dirty="0"/>
          </a:p>
          <a:p>
            <a:pPr algn="ctr" indent="0" marL="0">
              <a:buNone/>
            </a:pPr>
            <a:r>
              <a:rPr lang="en-US" sz="900" dirty="0">
                <a:solidFill>
                  <a:srgbClr val="E2E8F0"/>
                </a:solidFill>
                <a:latin typeface="Arial" pitchFamily="34" charset="0"/>
                <a:ea typeface="Arial" pitchFamily="34" charset="-122"/>
                <a:cs typeface="Arial" pitchFamily="34" charset="-120"/>
              </a:rPr>
              <a:t>Synthesizes plan</a:t>
            </a:r>
            <a:endParaRPr lang="en-US" sz="900" dirty="0"/>
          </a:p>
        </p:txBody>
      </p:sp>
      <p:sp>
        <p:nvSpPr>
          <p:cNvPr id="18" name="Text 16"/>
          <p:cNvSpPr/>
          <p:nvPr/>
        </p:nvSpPr>
        <p:spPr>
          <a:xfrm>
            <a:off x="2011680" y="2999232"/>
            <a:ext cx="1554480" cy="402336"/>
          </a:xfrm>
          <a:prstGeom prst="rect">
            <a:avLst/>
          </a:prstGeom>
          <a:noFill/>
          <a:ln/>
        </p:spPr>
        <p:txBody>
          <a:bodyPr wrap="square" lIns="0" tIns="0" rIns="0" bIns="0" rtlCol="0" anchor="ctr"/>
          <a:lstStyle/>
          <a:p>
            <a:pPr algn="ctr" indent="0" marL="0">
              <a:buNone/>
            </a:pPr>
            <a:r>
              <a:rPr lang="en-US" sz="850" dirty="0">
                <a:solidFill>
                  <a:srgbClr val="3B82F6"/>
                </a:solidFill>
                <a:latin typeface="Arial" pitchFamily="34" charset="0"/>
                <a:ea typeface="Arial" pitchFamily="34" charset="-122"/>
                <a:cs typeface="Arial" pitchFamily="34" charset="-120"/>
              </a:rPr>
              <a:t>Memory</a:t>
            </a:r>
            <a:endParaRPr lang="en-US" sz="850" dirty="0"/>
          </a:p>
          <a:p>
            <a:pPr algn="ctr" indent="0" marL="0">
              <a:buNone/>
            </a:pPr>
            <a:r>
              <a:rPr lang="en-US" sz="850" dirty="0">
                <a:solidFill>
                  <a:srgbClr val="3B82F6"/>
                </a:solidFill>
                <a:latin typeface="Arial" pitchFamily="34" charset="0"/>
                <a:ea typeface="Arial" pitchFamily="34" charset="-122"/>
                <a:cs typeface="Arial" pitchFamily="34" charset="-120"/>
              </a:rPr>
              <a:t>Retrieval</a:t>
            </a:r>
            <a:endParaRPr lang="en-US" sz="850" dirty="0"/>
          </a:p>
        </p:txBody>
      </p:sp>
      <p:sp>
        <p:nvSpPr>
          <p:cNvPr id="19" name="Shape 17"/>
          <p:cNvSpPr/>
          <p:nvPr/>
        </p:nvSpPr>
        <p:spPr>
          <a:xfrm>
            <a:off x="3639312" y="2487168"/>
            <a:ext cx="256032" cy="0"/>
          </a:xfrm>
          <a:prstGeom prst="line">
            <a:avLst/>
          </a:prstGeom>
          <a:noFill/>
          <a:ln w="19050">
            <a:solidFill>
              <a:srgbClr val="F59E0B"/>
            </a:solidFill>
            <a:prstDash val="solid"/>
          </a:ln>
        </p:spPr>
      </p:sp>
      <p:sp>
        <p:nvSpPr>
          <p:cNvPr id="20" name="Text 18"/>
          <p:cNvSpPr/>
          <p:nvPr/>
        </p:nvSpPr>
        <p:spPr>
          <a:xfrm>
            <a:off x="3822192" y="2350008"/>
            <a:ext cx="164592" cy="274320"/>
          </a:xfrm>
          <a:prstGeom prst="rect">
            <a:avLst/>
          </a:prstGeom>
          <a:noFill/>
          <a:ln/>
        </p:spPr>
        <p:txBody>
          <a:bodyPr wrap="square" lIns="0" tIns="0" rIns="0" bIns="0" rtlCol="0" anchor="ctr"/>
          <a:lstStyle/>
          <a:p>
            <a:pPr algn="l"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21" name="Shape 19"/>
          <p:cNvSpPr/>
          <p:nvPr/>
        </p:nvSpPr>
        <p:spPr>
          <a:xfrm>
            <a:off x="3950208" y="1115568"/>
            <a:ext cx="1097280" cy="493776"/>
          </a:xfrm>
          <a:prstGeom prst="roundRect">
            <a:avLst>
              <a:gd name="adj" fmla="val 18519"/>
            </a:avLst>
          </a:prstGeom>
          <a:solidFill>
            <a:srgbClr val="0F1628"/>
          </a:solidFill>
          <a:ln w="12700">
            <a:solidFill>
              <a:srgbClr val="3B82F6"/>
            </a:solidFill>
            <a:prstDash val="solid"/>
          </a:ln>
          <a:effectLst>
            <a:outerShdw sx="100000" sy="100000" kx="0" ky="0" algn="bl" rotWithShape="0" blurRad="127000" dist="38100" dir="2700000">
              <a:srgbClr val="000000">
                <a:alpha val="25000"/>
              </a:srgbClr>
            </a:outerShdw>
          </a:effectLst>
        </p:spPr>
      </p:sp>
      <p:sp>
        <p:nvSpPr>
          <p:cNvPr id="22" name="Text 20"/>
          <p:cNvSpPr/>
          <p:nvPr/>
        </p:nvSpPr>
        <p:spPr>
          <a:xfrm>
            <a:off x="3950208" y="1152144"/>
            <a:ext cx="10972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3995928" y="1499616"/>
            <a:ext cx="1005840" cy="256032"/>
          </a:xfrm>
          <a:prstGeom prst="rect">
            <a:avLst/>
          </a:prstGeom>
          <a:noFill/>
          <a:ln/>
        </p:spPr>
        <p:txBody>
          <a:bodyPr wrap="square" lIns="0" tIns="0" rIns="0" bIns="0" rtlCol="0" anchor="ctr"/>
          <a:lstStyle/>
          <a:p>
            <a:pPr algn="ctr" indent="0" marL="0">
              <a:buNone/>
            </a:pPr>
            <a:r>
              <a:rPr lang="en-US" sz="950" b="1" dirty="0">
                <a:solidFill>
                  <a:srgbClr val="3B82F6"/>
                </a:solidFill>
                <a:latin typeface="Arial" pitchFamily="34" charset="0"/>
                <a:ea typeface="Arial" pitchFamily="34" charset="-122"/>
                <a:cs typeface="Arial" pitchFamily="34" charset="-120"/>
              </a:rPr>
              <a:t>Email</a:t>
            </a:r>
            <a:endParaRPr lang="en-US" sz="950" dirty="0"/>
          </a:p>
        </p:txBody>
      </p:sp>
      <p:sp>
        <p:nvSpPr>
          <p:cNvPr id="24" name="Shape 22"/>
          <p:cNvSpPr/>
          <p:nvPr/>
        </p:nvSpPr>
        <p:spPr>
          <a:xfrm>
            <a:off x="3950208" y="1664208"/>
            <a:ext cx="1097280" cy="493776"/>
          </a:xfrm>
          <a:prstGeom prst="roundRect">
            <a:avLst>
              <a:gd name="adj" fmla="val 18519"/>
            </a:avLst>
          </a:prstGeom>
          <a:solidFill>
            <a:srgbClr val="0F1628"/>
          </a:solidFill>
          <a:ln w="12700">
            <a:solidFill>
              <a:srgbClr val="8B5CF6"/>
            </a:solidFill>
            <a:prstDash val="solid"/>
          </a:ln>
          <a:effectLst>
            <a:outerShdw sx="100000" sy="100000" kx="0" ky="0" algn="bl" rotWithShape="0" blurRad="127000" dist="38100" dir="2700000">
              <a:srgbClr val="000000">
                <a:alpha val="25000"/>
              </a:srgbClr>
            </a:outerShdw>
          </a:effectLst>
        </p:spPr>
      </p:sp>
      <p:sp>
        <p:nvSpPr>
          <p:cNvPr id="25" name="Text 23"/>
          <p:cNvSpPr/>
          <p:nvPr/>
        </p:nvSpPr>
        <p:spPr>
          <a:xfrm>
            <a:off x="3950208" y="1700784"/>
            <a:ext cx="10972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3995928" y="2048256"/>
            <a:ext cx="1005840" cy="256032"/>
          </a:xfrm>
          <a:prstGeom prst="rect">
            <a:avLst/>
          </a:prstGeom>
          <a:noFill/>
          <a:ln/>
        </p:spPr>
        <p:txBody>
          <a:bodyPr wrap="square" lIns="0" tIns="0" rIns="0" bIns="0" rtlCol="0" anchor="ctr"/>
          <a:lstStyle/>
          <a:p>
            <a:pPr algn="ctr" indent="0" marL="0">
              <a:buNone/>
            </a:pPr>
            <a:r>
              <a:rPr lang="en-US" sz="950" b="1" dirty="0">
                <a:solidFill>
                  <a:srgbClr val="8B5CF6"/>
                </a:solidFill>
                <a:latin typeface="Arial" pitchFamily="34" charset="0"/>
                <a:ea typeface="Arial" pitchFamily="34" charset="-122"/>
                <a:cs typeface="Arial" pitchFamily="34" charset="-120"/>
              </a:rPr>
              <a:t>Calendar</a:t>
            </a:r>
            <a:endParaRPr lang="en-US" sz="950" dirty="0"/>
          </a:p>
        </p:txBody>
      </p:sp>
      <p:sp>
        <p:nvSpPr>
          <p:cNvPr id="27" name="Shape 25"/>
          <p:cNvSpPr/>
          <p:nvPr/>
        </p:nvSpPr>
        <p:spPr>
          <a:xfrm>
            <a:off x="3950208" y="2212848"/>
            <a:ext cx="1097280" cy="493776"/>
          </a:xfrm>
          <a:prstGeom prst="roundRect">
            <a:avLst>
              <a:gd name="adj" fmla="val 18519"/>
            </a:avLst>
          </a:prstGeom>
          <a:solidFill>
            <a:srgbClr val="0F1628"/>
          </a:solidFill>
          <a:ln w="12700">
            <a:solidFill>
              <a:srgbClr val="10B981"/>
            </a:solidFill>
            <a:prstDash val="solid"/>
          </a:ln>
          <a:effectLst>
            <a:outerShdw sx="100000" sy="100000" kx="0" ky="0" algn="bl" rotWithShape="0" blurRad="127000" dist="38100" dir="2700000">
              <a:srgbClr val="000000">
                <a:alpha val="25000"/>
              </a:srgbClr>
            </a:outerShdw>
          </a:effectLst>
        </p:spPr>
      </p:sp>
      <p:sp>
        <p:nvSpPr>
          <p:cNvPr id="28" name="Text 26"/>
          <p:cNvSpPr/>
          <p:nvPr/>
        </p:nvSpPr>
        <p:spPr>
          <a:xfrm>
            <a:off x="3950208" y="2249424"/>
            <a:ext cx="10972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3995928" y="2596896"/>
            <a:ext cx="1005840" cy="256032"/>
          </a:xfrm>
          <a:prstGeom prst="rect">
            <a:avLst/>
          </a:prstGeom>
          <a:noFill/>
          <a:ln/>
        </p:spPr>
        <p:txBody>
          <a:bodyPr wrap="square" lIns="0" tIns="0" rIns="0" bIns="0"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Finance</a:t>
            </a:r>
            <a:endParaRPr lang="en-US" sz="950" dirty="0"/>
          </a:p>
        </p:txBody>
      </p:sp>
      <p:sp>
        <p:nvSpPr>
          <p:cNvPr id="30" name="Shape 28"/>
          <p:cNvSpPr/>
          <p:nvPr/>
        </p:nvSpPr>
        <p:spPr>
          <a:xfrm>
            <a:off x="3950208" y="2761488"/>
            <a:ext cx="1097280" cy="493776"/>
          </a:xfrm>
          <a:prstGeom prst="roundRect">
            <a:avLst>
              <a:gd name="adj" fmla="val 18519"/>
            </a:avLst>
          </a:prstGeom>
          <a:solidFill>
            <a:srgbClr val="0F1628"/>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1" name="Text 29"/>
          <p:cNvSpPr/>
          <p:nvPr/>
        </p:nvSpPr>
        <p:spPr>
          <a:xfrm>
            <a:off x="3950208" y="2798064"/>
            <a:ext cx="10972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3995928" y="3145536"/>
            <a:ext cx="1005840" cy="256032"/>
          </a:xfrm>
          <a:prstGeom prst="rect">
            <a:avLst/>
          </a:prstGeom>
          <a:noFill/>
          <a:ln/>
        </p:spPr>
        <p:txBody>
          <a:bodyPr wrap="square" lIns="0" tIns="0" rIns="0" bIns="0"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Reporting</a:t>
            </a:r>
            <a:endParaRPr lang="en-US" sz="950" dirty="0"/>
          </a:p>
        </p:txBody>
      </p:sp>
      <p:sp>
        <p:nvSpPr>
          <p:cNvPr id="33" name="Shape 31"/>
          <p:cNvSpPr/>
          <p:nvPr/>
        </p:nvSpPr>
        <p:spPr>
          <a:xfrm>
            <a:off x="3950208" y="3310128"/>
            <a:ext cx="1097280" cy="493776"/>
          </a:xfrm>
          <a:prstGeom prst="roundRect">
            <a:avLst>
              <a:gd name="adj" fmla="val 18519"/>
            </a:avLst>
          </a:prstGeom>
          <a:solidFill>
            <a:srgbClr val="0F1628"/>
          </a:solidFill>
          <a:ln w="12700">
            <a:solidFill>
              <a:srgbClr val="60A5FA"/>
            </a:solidFill>
            <a:prstDash val="solid"/>
          </a:ln>
          <a:effectLst>
            <a:outerShdw sx="100000" sy="100000" kx="0" ky="0" algn="bl" rotWithShape="0" blurRad="127000" dist="38100" dir="2700000">
              <a:srgbClr val="000000">
                <a:alpha val="25000"/>
              </a:srgbClr>
            </a:outerShdw>
          </a:effectLst>
        </p:spPr>
      </p:sp>
      <p:sp>
        <p:nvSpPr>
          <p:cNvPr id="34" name="Text 32"/>
          <p:cNvSpPr/>
          <p:nvPr/>
        </p:nvSpPr>
        <p:spPr>
          <a:xfrm>
            <a:off x="3950208" y="3346704"/>
            <a:ext cx="1097280" cy="36576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3995928" y="3694176"/>
            <a:ext cx="1005840" cy="256032"/>
          </a:xfrm>
          <a:prstGeom prst="rect">
            <a:avLst/>
          </a:prstGeom>
          <a:noFill/>
          <a:ln/>
        </p:spPr>
        <p:txBody>
          <a:bodyPr wrap="square" lIns="0" tIns="0" rIns="0" bIns="0" rtlCol="0" anchor="ctr"/>
          <a:lstStyle/>
          <a:p>
            <a:pPr algn="ctr" indent="0" marL="0">
              <a:buNone/>
            </a:pPr>
            <a:r>
              <a:rPr lang="en-US" sz="950" b="1" dirty="0">
                <a:solidFill>
                  <a:srgbClr val="60A5FA"/>
                </a:solidFill>
                <a:latin typeface="Arial" pitchFamily="34" charset="0"/>
                <a:ea typeface="Arial" pitchFamily="34" charset="-122"/>
                <a:cs typeface="Arial" pitchFamily="34" charset="-120"/>
              </a:rPr>
              <a:t>Research</a:t>
            </a:r>
            <a:endParaRPr lang="en-US" sz="950" dirty="0"/>
          </a:p>
        </p:txBody>
      </p:sp>
      <p:sp>
        <p:nvSpPr>
          <p:cNvPr id="36" name="Shape 34"/>
          <p:cNvSpPr/>
          <p:nvPr/>
        </p:nvSpPr>
        <p:spPr>
          <a:xfrm>
            <a:off x="5074920" y="2487168"/>
            <a:ext cx="256032" cy="0"/>
          </a:xfrm>
          <a:prstGeom prst="line">
            <a:avLst/>
          </a:prstGeom>
          <a:noFill/>
          <a:ln w="19050">
            <a:solidFill>
              <a:srgbClr val="F59E0B"/>
            </a:solidFill>
            <a:prstDash val="solid"/>
          </a:ln>
        </p:spPr>
      </p:sp>
      <p:sp>
        <p:nvSpPr>
          <p:cNvPr id="37" name="Text 35"/>
          <p:cNvSpPr/>
          <p:nvPr/>
        </p:nvSpPr>
        <p:spPr>
          <a:xfrm>
            <a:off x="5257800" y="2350008"/>
            <a:ext cx="164592" cy="274320"/>
          </a:xfrm>
          <a:prstGeom prst="rect">
            <a:avLst/>
          </a:prstGeom>
          <a:noFill/>
          <a:ln/>
        </p:spPr>
        <p:txBody>
          <a:bodyPr wrap="square" lIns="0" tIns="0" rIns="0" bIns="0" rtlCol="0" anchor="ctr"/>
          <a:lstStyle/>
          <a:p>
            <a:pPr algn="l"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38" name="Shape 36"/>
          <p:cNvSpPr/>
          <p:nvPr/>
        </p:nvSpPr>
        <p:spPr>
          <a:xfrm>
            <a:off x="5376672" y="1115568"/>
            <a:ext cx="1371600" cy="2743200"/>
          </a:xfrm>
          <a:prstGeom prst="roundRect">
            <a:avLst>
              <a:gd name="adj" fmla="val 6667"/>
            </a:avLst>
          </a:prstGeom>
          <a:solidFill>
            <a:srgbClr val="0C1220"/>
          </a:solidFill>
          <a:ln w="10160">
            <a:solidFill>
              <a:srgbClr val="EF4444"/>
            </a:solidFill>
            <a:prstDash val="solid"/>
          </a:ln>
          <a:effectLst>
            <a:outerShdw sx="100000" sy="100000" kx="0" ky="0" algn="bl" rotWithShape="0" blurRad="127000" dist="38100" dir="2700000">
              <a:srgbClr val="000000">
                <a:alpha val="25000"/>
              </a:srgbClr>
            </a:outerShdw>
          </a:effectLst>
        </p:spPr>
      </p:sp>
      <p:sp>
        <p:nvSpPr>
          <p:cNvPr id="39" name="Text 37"/>
          <p:cNvSpPr/>
          <p:nvPr/>
        </p:nvSpPr>
        <p:spPr>
          <a:xfrm>
            <a:off x="5376672" y="1188720"/>
            <a:ext cx="1371600" cy="47548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0" name="Text 38"/>
          <p:cNvSpPr/>
          <p:nvPr/>
        </p:nvSpPr>
        <p:spPr>
          <a:xfrm>
            <a:off x="5394960" y="1700784"/>
            <a:ext cx="1335024" cy="475488"/>
          </a:xfrm>
          <a:prstGeom prst="rect">
            <a:avLst/>
          </a:prstGeom>
          <a:noFill/>
          <a:ln/>
        </p:spPr>
        <p:txBody>
          <a:bodyPr wrap="square" lIns="0" tIns="0" rIns="0" bIns="0" rtlCol="0" anchor="ctr"/>
          <a:lstStyle/>
          <a:p>
            <a:pPr algn="ctr" indent="0" marL="0">
              <a:buNone/>
            </a:pPr>
            <a:r>
              <a:rPr lang="en-US" sz="1050" b="1" dirty="0">
                <a:solidFill>
                  <a:srgbClr val="EF4444"/>
                </a:solidFill>
                <a:latin typeface="Cambria" pitchFamily="34" charset="0"/>
                <a:ea typeface="Cambria" pitchFamily="34" charset="-122"/>
                <a:cs typeface="Cambria" pitchFamily="34" charset="-120"/>
              </a:rPr>
              <a:t>Compliance</a:t>
            </a:r>
            <a:endParaRPr lang="en-US" sz="1050" dirty="0"/>
          </a:p>
          <a:p>
            <a:pPr algn="ctr" indent="0" marL="0">
              <a:buNone/>
            </a:pPr>
            <a:r>
              <a:rPr lang="en-US" sz="1050" b="1" dirty="0">
                <a:solidFill>
                  <a:srgbClr val="EF4444"/>
                </a:solidFill>
                <a:latin typeface="Cambria" pitchFamily="34" charset="0"/>
                <a:ea typeface="Cambria" pitchFamily="34" charset="-122"/>
                <a:cs typeface="Cambria" pitchFamily="34" charset="-120"/>
              </a:rPr>
              <a:t>Agent</a:t>
            </a:r>
            <a:endParaRPr lang="en-US" sz="1050" dirty="0"/>
          </a:p>
        </p:txBody>
      </p:sp>
      <p:sp>
        <p:nvSpPr>
          <p:cNvPr id="41" name="Text 39"/>
          <p:cNvSpPr/>
          <p:nvPr/>
        </p:nvSpPr>
        <p:spPr>
          <a:xfrm>
            <a:off x="5394960" y="2231136"/>
            <a:ext cx="1335024" cy="640080"/>
          </a:xfrm>
          <a:prstGeom prst="rect">
            <a:avLst/>
          </a:prstGeom>
          <a:noFill/>
          <a:ln/>
        </p:spPr>
        <p:txBody>
          <a:bodyPr wrap="square" lIns="0" tIns="0" rIns="0" bIns="0"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Guardrail</a:t>
            </a:r>
            <a:endParaRPr lang="en-US" sz="900" dirty="0"/>
          </a:p>
          <a:p>
            <a:pPr algn="ctr" indent="0" marL="0">
              <a:buNone/>
            </a:pPr>
            <a:r>
              <a:rPr lang="en-US" sz="900" dirty="0">
                <a:solidFill>
                  <a:srgbClr val="E2E8F0"/>
                </a:solidFill>
                <a:latin typeface="Arial" pitchFamily="34" charset="0"/>
                <a:ea typeface="Arial" pitchFamily="34" charset="-122"/>
                <a:cs typeface="Arial" pitchFamily="34" charset="-120"/>
              </a:rPr>
              <a:t>APPROVED</a:t>
            </a:r>
            <a:endParaRPr lang="en-US" sz="900" dirty="0"/>
          </a:p>
          <a:p>
            <a:pPr algn="ctr" indent="0" marL="0">
              <a:buNone/>
            </a:pPr>
            <a:r>
              <a:rPr lang="en-US" sz="900" dirty="0">
                <a:solidFill>
                  <a:srgbClr val="E2E8F0"/>
                </a:solidFill>
                <a:latin typeface="Arial" pitchFamily="34" charset="0"/>
                <a:ea typeface="Arial" pitchFamily="34" charset="-122"/>
                <a:cs typeface="Arial" pitchFamily="34" charset="-120"/>
              </a:rPr>
              <a:t>or BLOCKED</a:t>
            </a:r>
            <a:endParaRPr lang="en-US" sz="900" dirty="0"/>
          </a:p>
        </p:txBody>
      </p:sp>
      <p:sp>
        <p:nvSpPr>
          <p:cNvPr id="42" name="Shape 40"/>
          <p:cNvSpPr/>
          <p:nvPr/>
        </p:nvSpPr>
        <p:spPr>
          <a:xfrm>
            <a:off x="6784848" y="2487168"/>
            <a:ext cx="256032" cy="0"/>
          </a:xfrm>
          <a:prstGeom prst="line">
            <a:avLst/>
          </a:prstGeom>
          <a:noFill/>
          <a:ln w="19050">
            <a:solidFill>
              <a:srgbClr val="F59E0B"/>
            </a:solidFill>
            <a:prstDash val="solid"/>
          </a:ln>
        </p:spPr>
      </p:sp>
      <p:sp>
        <p:nvSpPr>
          <p:cNvPr id="43" name="Text 41"/>
          <p:cNvSpPr/>
          <p:nvPr/>
        </p:nvSpPr>
        <p:spPr>
          <a:xfrm>
            <a:off x="6967728" y="2350008"/>
            <a:ext cx="164592" cy="274320"/>
          </a:xfrm>
          <a:prstGeom prst="rect">
            <a:avLst/>
          </a:prstGeom>
          <a:noFill/>
          <a:ln/>
        </p:spPr>
        <p:txBody>
          <a:bodyPr wrap="square" lIns="0" tIns="0" rIns="0" bIns="0" rtlCol="0" anchor="ctr"/>
          <a:lstStyle/>
          <a:p>
            <a:pPr algn="l"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44" name="Shape 42"/>
          <p:cNvSpPr/>
          <p:nvPr/>
        </p:nvSpPr>
        <p:spPr>
          <a:xfrm>
            <a:off x="7086600" y="1115568"/>
            <a:ext cx="1737360" cy="2743200"/>
          </a:xfrm>
          <a:prstGeom prst="roundRect">
            <a:avLst>
              <a:gd name="adj" fmla="val 5263"/>
            </a:avLst>
          </a:prstGeom>
          <a:solidFill>
            <a:srgbClr val="140A00"/>
          </a:solidFill>
          <a:ln w="15240">
            <a:solidFill>
              <a:srgbClr val="F59E0B"/>
            </a:solidFill>
            <a:prstDash val="solid"/>
          </a:ln>
          <a:effectLst>
            <a:outerShdw sx="100000" sy="100000" kx="0" ky="0" algn="bl" rotWithShape="0" blurRad="177800" dist="50800" dir="2700000">
              <a:srgbClr val="000000">
                <a:alpha val="35000"/>
              </a:srgbClr>
            </a:outerShdw>
          </a:effectLst>
        </p:spPr>
      </p:sp>
      <p:sp>
        <p:nvSpPr>
          <p:cNvPr id="45" name="Text 43"/>
          <p:cNvSpPr/>
          <p:nvPr/>
        </p:nvSpPr>
        <p:spPr>
          <a:xfrm>
            <a:off x="7086600" y="1188720"/>
            <a:ext cx="1737360" cy="47548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6" name="Text 44"/>
          <p:cNvSpPr/>
          <p:nvPr/>
        </p:nvSpPr>
        <p:spPr>
          <a:xfrm>
            <a:off x="7114032" y="1700784"/>
            <a:ext cx="1682496" cy="475488"/>
          </a:xfrm>
          <a:prstGeom prst="rect">
            <a:avLst/>
          </a:prstGeom>
          <a:noFill/>
          <a:ln/>
        </p:spPr>
        <p:txBody>
          <a:bodyPr wrap="square" lIns="0" tIns="0" rIns="0" bIns="0" rtlCol="0" anchor="ctr"/>
          <a:lstStyle/>
          <a:p>
            <a:pPr algn="ctr" indent="0" marL="0">
              <a:buNone/>
            </a:pPr>
            <a:r>
              <a:rPr lang="en-US" sz="1100" b="1" dirty="0">
                <a:solidFill>
                  <a:srgbClr val="F59E0B"/>
                </a:solidFill>
                <a:latin typeface="Cambria" pitchFamily="34" charset="0"/>
                <a:ea typeface="Cambria" pitchFamily="34" charset="-122"/>
                <a:cs typeface="Cambria" pitchFamily="34" charset="-120"/>
              </a:rPr>
              <a:t>Human</a:t>
            </a:r>
            <a:endParaRPr lang="en-US" sz="1100" dirty="0"/>
          </a:p>
          <a:p>
            <a:pPr algn="ctr" indent="0" marL="0">
              <a:buNone/>
            </a:pPr>
            <a:r>
              <a:rPr lang="en-US" sz="1100" b="1" dirty="0">
                <a:solidFill>
                  <a:srgbClr val="F59E0B"/>
                </a:solidFill>
                <a:latin typeface="Cambria" pitchFamily="34" charset="0"/>
                <a:ea typeface="Cambria" pitchFamily="34" charset="-122"/>
                <a:cs typeface="Cambria" pitchFamily="34" charset="-120"/>
              </a:rPr>
              <a:t>Approval</a:t>
            </a:r>
            <a:endParaRPr lang="en-US" sz="1100" dirty="0"/>
          </a:p>
        </p:txBody>
      </p:sp>
      <p:sp>
        <p:nvSpPr>
          <p:cNvPr id="47" name="Text 45"/>
          <p:cNvSpPr/>
          <p:nvPr/>
        </p:nvSpPr>
        <p:spPr>
          <a:xfrm>
            <a:off x="7114032" y="2231136"/>
            <a:ext cx="1682496" cy="658368"/>
          </a:xfrm>
          <a:prstGeom prst="rect">
            <a:avLst/>
          </a:prstGeom>
          <a:noFill/>
          <a:ln/>
        </p:spPr>
        <p:txBody>
          <a:bodyPr wrap="square" lIns="0" tIns="0" rIns="0" bIns="0"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Server-side hold</a:t>
            </a:r>
            <a:endParaRPr lang="en-US" sz="900" dirty="0"/>
          </a:p>
          <a:p>
            <a:pPr algn="ctr" indent="0" marL="0">
              <a:buNone/>
            </a:pPr>
            <a:r>
              <a:rPr lang="en-US" sz="900" dirty="0">
                <a:solidFill>
                  <a:srgbClr val="E2E8F0"/>
                </a:solidFill>
                <a:latin typeface="Arial" pitchFamily="34" charset="0"/>
                <a:ea typeface="Arial" pitchFamily="34" charset="-122"/>
                <a:cs typeface="Arial" pitchFamily="34" charset="-120"/>
              </a:rPr>
              <a:t>Zero execution</a:t>
            </a:r>
            <a:endParaRPr lang="en-US" sz="900" dirty="0"/>
          </a:p>
          <a:p>
            <a:pPr algn="ctr" indent="0" marL="0">
              <a:buNone/>
            </a:pPr>
            <a:r>
              <a:rPr lang="en-US" sz="900" dirty="0">
                <a:solidFill>
                  <a:srgbClr val="E2E8F0"/>
                </a:solidFill>
                <a:latin typeface="Arial" pitchFamily="34" charset="0"/>
                <a:ea typeface="Arial" pitchFamily="34" charset="-122"/>
                <a:cs typeface="Arial" pitchFamily="34" charset="-120"/>
              </a:rPr>
              <a:t>without sign-off</a:t>
            </a:r>
            <a:endParaRPr lang="en-US" sz="900" dirty="0"/>
          </a:p>
        </p:txBody>
      </p:sp>
      <p:sp>
        <p:nvSpPr>
          <p:cNvPr id="48" name="Text 46"/>
          <p:cNvSpPr/>
          <p:nvPr/>
        </p:nvSpPr>
        <p:spPr>
          <a:xfrm>
            <a:off x="7114032" y="2980944"/>
            <a:ext cx="1682496" cy="402336"/>
          </a:xfrm>
          <a:prstGeom prst="rect">
            <a:avLst/>
          </a:prstGeom>
          <a:noFill/>
          <a:ln/>
        </p:spPr>
        <p:txBody>
          <a:bodyPr wrap="square" lIns="0" tIns="0" rIns="0" bIns="0" rtlCol="0" anchor="ctr"/>
          <a:lstStyle/>
          <a:p>
            <a:pPr algn="ctr" indent="0" marL="0">
              <a:buNone/>
            </a:pPr>
            <a:r>
              <a:rPr lang="en-US" sz="850" dirty="0">
                <a:solidFill>
                  <a:srgbClr val="10B981"/>
                </a:solidFill>
                <a:latin typeface="Arial" pitchFamily="34" charset="0"/>
                <a:ea typeface="Arial" pitchFamily="34" charset="-122"/>
                <a:cs typeface="Arial" pitchFamily="34" charset="-120"/>
              </a:rPr>
              <a:t>→ GWorkspace</a:t>
            </a:r>
            <a:endParaRPr lang="en-US" sz="850" dirty="0"/>
          </a:p>
          <a:p>
            <a:pPr algn="ctr" indent="0" marL="0">
              <a:buNone/>
            </a:pPr>
            <a:r>
              <a:rPr lang="en-US" sz="850" dirty="0">
                <a:solidFill>
                  <a:srgbClr val="10B981"/>
                </a:solidFill>
                <a:latin typeface="Arial" pitchFamily="34" charset="0"/>
                <a:ea typeface="Arial" pitchFamily="34" charset="-122"/>
                <a:cs typeface="Arial" pitchFamily="34" charset="-120"/>
              </a:rPr>
              <a:t>Execution</a:t>
            </a:r>
            <a:endParaRPr lang="en-US" sz="850" dirty="0"/>
          </a:p>
        </p:txBody>
      </p:sp>
      <p:sp>
        <p:nvSpPr>
          <p:cNvPr id="49" name="Shape 47"/>
          <p:cNvSpPr/>
          <p:nvPr/>
        </p:nvSpPr>
        <p:spPr>
          <a:xfrm>
            <a:off x="1965960" y="3977640"/>
            <a:ext cx="6858000" cy="548640"/>
          </a:xfrm>
          <a:prstGeom prst="roundRect">
            <a:avLst>
              <a:gd name="adj" fmla="val 13333"/>
            </a:avLst>
          </a:prstGeom>
          <a:solidFill>
            <a:srgbClr val="0C1220"/>
          </a:solidFill>
          <a:ln w="7620">
            <a:solidFill>
              <a:srgbClr val="3B82F6"/>
            </a:solidFill>
            <a:prstDash val="solid"/>
          </a:ln>
        </p:spPr>
      </p:sp>
      <p:sp>
        <p:nvSpPr>
          <p:cNvPr id="50" name="Text 48"/>
          <p:cNvSpPr/>
          <p:nvPr/>
        </p:nvSpPr>
        <p:spPr>
          <a:xfrm>
            <a:off x="2103120" y="4023360"/>
            <a:ext cx="6583680" cy="457200"/>
          </a:xfrm>
          <a:prstGeom prst="rect">
            <a:avLst/>
          </a:prstGeom>
          <a:noFill/>
          <a:ln/>
        </p:spPr>
        <p:txBody>
          <a:bodyPr wrap="square" lIns="0" tIns="0" rIns="0" bIns="0" rtlCol="0" anchor="ctr"/>
          <a:lstStyle/>
          <a:p>
            <a:pPr algn="ctr" indent="0" marL="0">
              <a:buNone/>
            </a:pPr>
            <a:r>
              <a:rPr lang="en-US" sz="900" dirty="0">
                <a:solidFill>
                  <a:srgbClr val="3B82F6"/>
                </a:solidFill>
                <a:latin typeface="Arial" pitchFamily="34" charset="0"/>
                <a:ea typeface="Arial" pitchFamily="34" charset="-122"/>
                <a:cs typeface="Arial" pitchFamily="34" charset="-120"/>
              </a:rPr>
              <a:t>◎  Long-Term Memory Layer  ·  pgvector  ·  HNSW semantic search  ·  384-dim embeddings  ·  All agents retrieve context from this layer before running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60F"/>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8 / 12</a:t>
            </a:r>
            <a:endParaRPr lang="en-US" sz="900" dirty="0"/>
          </a:p>
        </p:txBody>
      </p:sp>
      <p:sp>
        <p:nvSpPr>
          <p:cNvPr id="4" name="Text 2"/>
          <p:cNvSpPr/>
          <p:nvPr/>
        </p:nvSpPr>
        <p:spPr>
          <a:xfrm>
            <a:off x="457200" y="256032"/>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COMPETITIVE ADVANTAGE</a:t>
            </a:r>
            <a:endParaRPr lang="en-US" sz="900" dirty="0"/>
          </a:p>
        </p:txBody>
      </p:sp>
      <p:sp>
        <p:nvSpPr>
          <p:cNvPr id="5" name="Text 3"/>
          <p:cNvSpPr/>
          <p:nvPr/>
        </p:nvSpPr>
        <p:spPr>
          <a:xfrm>
            <a:off x="457200" y="457200"/>
            <a:ext cx="64008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Built for buyers that others cannot serve.</a:t>
            </a:r>
            <a:endParaRPr lang="en-US" sz="2600" dirty="0"/>
          </a:p>
        </p:txBody>
      </p:sp>
      <p:sp>
        <p:nvSpPr>
          <p:cNvPr id="6" name="Shape 4"/>
          <p:cNvSpPr/>
          <p:nvPr/>
        </p:nvSpPr>
        <p:spPr>
          <a:xfrm>
            <a:off x="384048" y="1024128"/>
            <a:ext cx="1828800" cy="329184"/>
          </a:xfrm>
          <a:prstGeom prst="roundRect">
            <a:avLst>
              <a:gd name="adj" fmla="val 11111"/>
            </a:avLst>
          </a:prstGeom>
          <a:solidFill>
            <a:srgbClr val="0C1220"/>
          </a:solidFill>
          <a:ln w="12700">
            <a:solidFill>
              <a:srgbClr val="1A2540"/>
            </a:solidFill>
            <a:prstDash val="solid"/>
          </a:ln>
        </p:spPr>
      </p:sp>
      <p:sp>
        <p:nvSpPr>
          <p:cNvPr id="7" name="Text 5"/>
          <p:cNvSpPr/>
          <p:nvPr/>
        </p:nvSpPr>
        <p:spPr>
          <a:xfrm>
            <a:off x="438912" y="1024128"/>
            <a:ext cx="1719072" cy="329184"/>
          </a:xfrm>
          <a:prstGeom prst="rect">
            <a:avLst/>
          </a:prstGeom>
          <a:noFill/>
          <a:ln/>
        </p:spPr>
        <p:txBody>
          <a:bodyPr wrap="square" lIns="0" tIns="0" rIns="0" bIns="0"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Capability</a:t>
            </a:r>
            <a:endParaRPr lang="en-US" sz="1000" dirty="0"/>
          </a:p>
        </p:txBody>
      </p:sp>
      <p:sp>
        <p:nvSpPr>
          <p:cNvPr id="8" name="Shape 6"/>
          <p:cNvSpPr/>
          <p:nvPr/>
        </p:nvSpPr>
        <p:spPr>
          <a:xfrm>
            <a:off x="2331720" y="1024128"/>
            <a:ext cx="1627632" cy="329184"/>
          </a:xfrm>
          <a:prstGeom prst="roundRect">
            <a:avLst>
              <a:gd name="adj" fmla="val 11111"/>
            </a:avLst>
          </a:prstGeom>
          <a:solidFill>
            <a:srgbClr val="F59E0B"/>
          </a:solidFill>
          <a:ln w="12700">
            <a:solidFill>
              <a:srgbClr val="1A2540"/>
            </a:solidFill>
            <a:prstDash val="solid"/>
          </a:ln>
        </p:spPr>
      </p:sp>
      <p:sp>
        <p:nvSpPr>
          <p:cNvPr id="9" name="Text 7"/>
          <p:cNvSpPr/>
          <p:nvPr/>
        </p:nvSpPr>
        <p:spPr>
          <a:xfrm>
            <a:off x="2386584" y="1024128"/>
            <a:ext cx="1517904" cy="329184"/>
          </a:xfrm>
          <a:prstGeom prst="rect">
            <a:avLst/>
          </a:prstGeom>
          <a:noFill/>
          <a:ln/>
        </p:spPr>
        <p:txBody>
          <a:bodyPr wrap="square" lIns="0" tIns="0" rIns="0" bIns="0" rtlCol="0" anchor="ctr"/>
          <a:lstStyle/>
          <a:p>
            <a:pPr algn="ctr" indent="0" marL="0">
              <a:buNone/>
            </a:pPr>
            <a:r>
              <a:rPr lang="en-US" sz="1000" b="1" dirty="0">
                <a:solidFill>
                  <a:srgbClr val="04060F"/>
                </a:solidFill>
                <a:latin typeface="Arial" pitchFamily="34" charset="0"/>
                <a:ea typeface="Arial" pitchFamily="34" charset="-122"/>
                <a:cs typeface="Arial" pitchFamily="34" charset="-120"/>
              </a:rPr>
              <a:t>◈ SAW</a:t>
            </a:r>
            <a:endParaRPr lang="en-US" sz="1000" dirty="0"/>
          </a:p>
        </p:txBody>
      </p:sp>
      <p:sp>
        <p:nvSpPr>
          <p:cNvPr id="10" name="Shape 8"/>
          <p:cNvSpPr/>
          <p:nvPr/>
        </p:nvSpPr>
        <p:spPr>
          <a:xfrm>
            <a:off x="4069080" y="1024128"/>
            <a:ext cx="1627632" cy="329184"/>
          </a:xfrm>
          <a:prstGeom prst="roundRect">
            <a:avLst>
              <a:gd name="adj" fmla="val 11111"/>
            </a:avLst>
          </a:prstGeom>
          <a:solidFill>
            <a:srgbClr val="0C1220"/>
          </a:solidFill>
          <a:ln w="12700">
            <a:solidFill>
              <a:srgbClr val="1A2540"/>
            </a:solidFill>
            <a:prstDash val="solid"/>
          </a:ln>
        </p:spPr>
      </p:sp>
      <p:sp>
        <p:nvSpPr>
          <p:cNvPr id="11" name="Text 9"/>
          <p:cNvSpPr/>
          <p:nvPr/>
        </p:nvSpPr>
        <p:spPr>
          <a:xfrm>
            <a:off x="4123944" y="1024128"/>
            <a:ext cx="1517904" cy="329184"/>
          </a:xfrm>
          <a:prstGeom prst="rect">
            <a:avLst/>
          </a:prstGeom>
          <a:noFill/>
          <a:ln/>
        </p:spPr>
        <p:txBody>
          <a:bodyPr wrap="square" lIns="0" tIns="0" rIns="0" bIns="0"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MS Copilot</a:t>
            </a:r>
            <a:endParaRPr lang="en-US" sz="1000" dirty="0"/>
          </a:p>
        </p:txBody>
      </p:sp>
      <p:sp>
        <p:nvSpPr>
          <p:cNvPr id="12" name="Shape 10"/>
          <p:cNvSpPr/>
          <p:nvPr/>
        </p:nvSpPr>
        <p:spPr>
          <a:xfrm>
            <a:off x="5806440" y="1024128"/>
            <a:ext cx="1627632" cy="329184"/>
          </a:xfrm>
          <a:prstGeom prst="roundRect">
            <a:avLst>
              <a:gd name="adj" fmla="val 11111"/>
            </a:avLst>
          </a:prstGeom>
          <a:solidFill>
            <a:srgbClr val="0C1220"/>
          </a:solidFill>
          <a:ln w="12700">
            <a:solidFill>
              <a:srgbClr val="1A2540"/>
            </a:solidFill>
            <a:prstDash val="solid"/>
          </a:ln>
        </p:spPr>
      </p:sp>
      <p:sp>
        <p:nvSpPr>
          <p:cNvPr id="13" name="Text 11"/>
          <p:cNvSpPr/>
          <p:nvPr/>
        </p:nvSpPr>
        <p:spPr>
          <a:xfrm>
            <a:off x="5861304" y="1024128"/>
            <a:ext cx="1517904" cy="329184"/>
          </a:xfrm>
          <a:prstGeom prst="rect">
            <a:avLst/>
          </a:prstGeom>
          <a:noFill/>
          <a:ln/>
        </p:spPr>
        <p:txBody>
          <a:bodyPr wrap="square" lIns="0" tIns="0" rIns="0" bIns="0"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Zapier / Make</a:t>
            </a:r>
            <a:endParaRPr lang="en-US" sz="1000" dirty="0"/>
          </a:p>
        </p:txBody>
      </p:sp>
      <p:sp>
        <p:nvSpPr>
          <p:cNvPr id="14" name="Shape 12"/>
          <p:cNvSpPr/>
          <p:nvPr/>
        </p:nvSpPr>
        <p:spPr>
          <a:xfrm>
            <a:off x="7516368" y="1024128"/>
            <a:ext cx="1508760" cy="329184"/>
          </a:xfrm>
          <a:prstGeom prst="roundRect">
            <a:avLst>
              <a:gd name="adj" fmla="val 11111"/>
            </a:avLst>
          </a:prstGeom>
          <a:solidFill>
            <a:srgbClr val="0C1220"/>
          </a:solidFill>
          <a:ln w="12700">
            <a:solidFill>
              <a:srgbClr val="1A2540"/>
            </a:solidFill>
            <a:prstDash val="solid"/>
          </a:ln>
        </p:spPr>
      </p:sp>
      <p:sp>
        <p:nvSpPr>
          <p:cNvPr id="15" name="Text 13"/>
          <p:cNvSpPr/>
          <p:nvPr/>
        </p:nvSpPr>
        <p:spPr>
          <a:xfrm>
            <a:off x="7571232" y="1024128"/>
            <a:ext cx="1399032" cy="329184"/>
          </a:xfrm>
          <a:prstGeom prst="rect">
            <a:avLst/>
          </a:prstGeom>
          <a:noFill/>
          <a:ln/>
        </p:spPr>
        <p:txBody>
          <a:bodyPr wrap="square" lIns="0" tIns="0" rIns="0" bIns="0" rtlCol="0" anchor="ctr"/>
          <a:lstStyle/>
          <a:p>
            <a:pPr algn="ctr" indent="0" marL="0">
              <a:buNone/>
            </a:pPr>
            <a:r>
              <a:rPr lang="en-US" sz="1000" b="1" dirty="0">
                <a:solidFill>
                  <a:srgbClr val="94A3B8"/>
                </a:solidFill>
                <a:latin typeface="Arial" pitchFamily="34" charset="0"/>
                <a:ea typeface="Arial" pitchFamily="34" charset="-122"/>
                <a:cs typeface="Arial" pitchFamily="34" charset="-120"/>
              </a:rPr>
              <a:t>CrewAI</a:t>
            </a:r>
            <a:endParaRPr lang="en-US" sz="1000" dirty="0"/>
          </a:p>
        </p:txBody>
      </p:sp>
      <p:sp>
        <p:nvSpPr>
          <p:cNvPr id="16" name="Shape 14"/>
          <p:cNvSpPr/>
          <p:nvPr/>
        </p:nvSpPr>
        <p:spPr>
          <a:xfrm>
            <a:off x="384048" y="1408176"/>
            <a:ext cx="8641080" cy="347472"/>
          </a:xfrm>
          <a:prstGeom prst="roundRect">
            <a:avLst>
              <a:gd name="adj" fmla="val 10526"/>
            </a:avLst>
          </a:prstGeom>
          <a:solidFill>
            <a:srgbClr val="0C1220"/>
          </a:solidFill>
          <a:ln w="12700">
            <a:solidFill>
              <a:srgbClr val="1A2540"/>
            </a:solidFill>
            <a:prstDash val="solid"/>
          </a:ln>
        </p:spPr>
      </p:sp>
      <p:sp>
        <p:nvSpPr>
          <p:cNvPr id="17" name="Text 15"/>
          <p:cNvSpPr/>
          <p:nvPr/>
        </p:nvSpPr>
        <p:spPr>
          <a:xfrm>
            <a:off x="438912" y="1408176"/>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Multi-agent coordination</a:t>
            </a:r>
            <a:endParaRPr lang="en-US" sz="1000" dirty="0"/>
          </a:p>
        </p:txBody>
      </p:sp>
      <p:sp>
        <p:nvSpPr>
          <p:cNvPr id="18" name="Text 16"/>
          <p:cNvSpPr/>
          <p:nvPr/>
        </p:nvSpPr>
        <p:spPr>
          <a:xfrm>
            <a:off x="2386584" y="1408176"/>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4123944" y="1408176"/>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20" name="Text 18"/>
          <p:cNvSpPr/>
          <p:nvPr/>
        </p:nvSpPr>
        <p:spPr>
          <a:xfrm>
            <a:off x="5861304" y="1408176"/>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21" name="Text 19"/>
          <p:cNvSpPr/>
          <p:nvPr/>
        </p:nvSpPr>
        <p:spPr>
          <a:xfrm>
            <a:off x="7571232" y="1408176"/>
            <a:ext cx="1399032" cy="34747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 (dev only)</a:t>
            </a:r>
            <a:endParaRPr lang="en-US" sz="1000" dirty="0"/>
          </a:p>
        </p:txBody>
      </p:sp>
      <p:sp>
        <p:nvSpPr>
          <p:cNvPr id="22" name="Shape 20"/>
          <p:cNvSpPr/>
          <p:nvPr/>
        </p:nvSpPr>
        <p:spPr>
          <a:xfrm>
            <a:off x="384048" y="1792224"/>
            <a:ext cx="8641080" cy="347472"/>
          </a:xfrm>
          <a:prstGeom prst="roundRect">
            <a:avLst>
              <a:gd name="adj" fmla="val 10526"/>
            </a:avLst>
          </a:prstGeom>
          <a:solidFill>
            <a:srgbClr val="0F1628"/>
          </a:solidFill>
          <a:ln w="12700">
            <a:solidFill>
              <a:srgbClr val="1A2540"/>
            </a:solidFill>
            <a:prstDash val="solid"/>
          </a:ln>
        </p:spPr>
      </p:sp>
      <p:sp>
        <p:nvSpPr>
          <p:cNvPr id="23" name="Text 21"/>
          <p:cNvSpPr/>
          <p:nvPr/>
        </p:nvSpPr>
        <p:spPr>
          <a:xfrm>
            <a:off x="438912" y="1792224"/>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Long-term semantic memory</a:t>
            </a:r>
            <a:endParaRPr lang="en-US" sz="1000" dirty="0"/>
          </a:p>
        </p:txBody>
      </p:sp>
      <p:sp>
        <p:nvSpPr>
          <p:cNvPr id="24" name="Text 22"/>
          <p:cNvSpPr/>
          <p:nvPr/>
        </p:nvSpPr>
        <p:spPr>
          <a:xfrm>
            <a:off x="2386584" y="1792224"/>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25" name="Text 23"/>
          <p:cNvSpPr/>
          <p:nvPr/>
        </p:nvSpPr>
        <p:spPr>
          <a:xfrm>
            <a:off x="4123944" y="1792224"/>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26" name="Text 24"/>
          <p:cNvSpPr/>
          <p:nvPr/>
        </p:nvSpPr>
        <p:spPr>
          <a:xfrm>
            <a:off x="5861304" y="1792224"/>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27" name="Text 25"/>
          <p:cNvSpPr/>
          <p:nvPr/>
        </p:nvSpPr>
        <p:spPr>
          <a:xfrm>
            <a:off x="7571232" y="1792224"/>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28" name="Shape 26"/>
          <p:cNvSpPr/>
          <p:nvPr/>
        </p:nvSpPr>
        <p:spPr>
          <a:xfrm>
            <a:off x="384048" y="2176272"/>
            <a:ext cx="8641080" cy="347472"/>
          </a:xfrm>
          <a:prstGeom prst="roundRect">
            <a:avLst>
              <a:gd name="adj" fmla="val 10526"/>
            </a:avLst>
          </a:prstGeom>
          <a:solidFill>
            <a:srgbClr val="0C1220"/>
          </a:solidFill>
          <a:ln w="12700">
            <a:solidFill>
              <a:srgbClr val="1A2540"/>
            </a:solidFill>
            <a:prstDash val="solid"/>
          </a:ln>
        </p:spPr>
      </p:sp>
      <p:sp>
        <p:nvSpPr>
          <p:cNvPr id="29" name="Text 27"/>
          <p:cNvSpPr/>
          <p:nvPr/>
        </p:nvSpPr>
        <p:spPr>
          <a:xfrm>
            <a:off x="438912" y="2176272"/>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Human approval gate</a:t>
            </a:r>
            <a:endParaRPr lang="en-US" sz="1000" dirty="0"/>
          </a:p>
        </p:txBody>
      </p:sp>
      <p:sp>
        <p:nvSpPr>
          <p:cNvPr id="30" name="Text 28"/>
          <p:cNvSpPr/>
          <p:nvPr/>
        </p:nvSpPr>
        <p:spPr>
          <a:xfrm>
            <a:off x="2386584" y="2176272"/>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31" name="Text 29"/>
          <p:cNvSpPr/>
          <p:nvPr/>
        </p:nvSpPr>
        <p:spPr>
          <a:xfrm>
            <a:off x="4123944" y="2176272"/>
            <a:ext cx="1517904" cy="34747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Partial</a:t>
            </a:r>
            <a:endParaRPr lang="en-US" sz="1000" dirty="0"/>
          </a:p>
        </p:txBody>
      </p:sp>
      <p:sp>
        <p:nvSpPr>
          <p:cNvPr id="32" name="Text 30"/>
          <p:cNvSpPr/>
          <p:nvPr/>
        </p:nvSpPr>
        <p:spPr>
          <a:xfrm>
            <a:off x="5861304" y="2176272"/>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33" name="Text 31"/>
          <p:cNvSpPr/>
          <p:nvPr/>
        </p:nvSpPr>
        <p:spPr>
          <a:xfrm>
            <a:off x="7571232" y="2176272"/>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34" name="Shape 32"/>
          <p:cNvSpPr/>
          <p:nvPr/>
        </p:nvSpPr>
        <p:spPr>
          <a:xfrm>
            <a:off x="384048" y="2560320"/>
            <a:ext cx="8641080" cy="347472"/>
          </a:xfrm>
          <a:prstGeom prst="roundRect">
            <a:avLst>
              <a:gd name="adj" fmla="val 10526"/>
            </a:avLst>
          </a:prstGeom>
          <a:solidFill>
            <a:srgbClr val="0F1628"/>
          </a:solidFill>
          <a:ln w="12700">
            <a:solidFill>
              <a:srgbClr val="1A2540"/>
            </a:solidFill>
            <a:prstDash val="solid"/>
          </a:ln>
        </p:spPr>
      </p:sp>
      <p:sp>
        <p:nvSpPr>
          <p:cNvPr id="35" name="Text 33"/>
          <p:cNvSpPr/>
          <p:nvPr/>
        </p:nvSpPr>
        <p:spPr>
          <a:xfrm>
            <a:off x="438912" y="2560320"/>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Real Workspace execution</a:t>
            </a:r>
            <a:endParaRPr lang="en-US" sz="1000" dirty="0"/>
          </a:p>
        </p:txBody>
      </p:sp>
      <p:sp>
        <p:nvSpPr>
          <p:cNvPr id="36" name="Text 34"/>
          <p:cNvSpPr/>
          <p:nvPr/>
        </p:nvSpPr>
        <p:spPr>
          <a:xfrm>
            <a:off x="2386584" y="2560320"/>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37" name="Text 35"/>
          <p:cNvSpPr/>
          <p:nvPr/>
        </p:nvSpPr>
        <p:spPr>
          <a:xfrm>
            <a:off x="4123944" y="2560320"/>
            <a:ext cx="1517904" cy="347472"/>
          </a:xfrm>
          <a:prstGeom prst="rect">
            <a:avLst/>
          </a:prstGeom>
          <a:noFill/>
          <a:ln/>
        </p:spPr>
        <p:txBody>
          <a:bodyPr wrap="square" lIns="0" tIns="0" rIns="0" bIns="0" rtlCol="0" anchor="ctr"/>
          <a:lstStyle/>
          <a:p>
            <a:pPr algn="ctr" indent="0" marL="0">
              <a:buNone/>
            </a:pPr>
            <a:r>
              <a:rPr lang="en-US" sz="1000" dirty="0">
                <a:solidFill>
                  <a:srgbClr val="10B981"/>
                </a:solidFill>
                <a:latin typeface="Arial" pitchFamily="34" charset="0"/>
                <a:ea typeface="Arial" pitchFamily="34" charset="-122"/>
                <a:cs typeface="Arial" pitchFamily="34" charset="-120"/>
              </a:rPr>
              <a:t>✓</a:t>
            </a:r>
            <a:endParaRPr lang="en-US" sz="1000" dirty="0"/>
          </a:p>
        </p:txBody>
      </p:sp>
      <p:sp>
        <p:nvSpPr>
          <p:cNvPr id="38" name="Text 36"/>
          <p:cNvSpPr/>
          <p:nvPr/>
        </p:nvSpPr>
        <p:spPr>
          <a:xfrm>
            <a:off x="5861304" y="2560320"/>
            <a:ext cx="1517904" cy="347472"/>
          </a:xfrm>
          <a:prstGeom prst="rect">
            <a:avLst/>
          </a:prstGeom>
          <a:noFill/>
          <a:ln/>
        </p:spPr>
        <p:txBody>
          <a:bodyPr wrap="square" lIns="0" tIns="0" rIns="0" bIns="0" rtlCol="0" anchor="ctr"/>
          <a:lstStyle/>
          <a:p>
            <a:pPr algn="ctr" indent="0" marL="0">
              <a:buNone/>
            </a:pPr>
            <a:r>
              <a:rPr lang="en-US" sz="1000" dirty="0">
                <a:solidFill>
                  <a:srgbClr val="10B981"/>
                </a:solidFill>
                <a:latin typeface="Arial" pitchFamily="34" charset="0"/>
                <a:ea typeface="Arial" pitchFamily="34" charset="-122"/>
                <a:cs typeface="Arial" pitchFamily="34" charset="-120"/>
              </a:rPr>
              <a:t>✓</a:t>
            </a:r>
            <a:endParaRPr lang="en-US" sz="1000" dirty="0"/>
          </a:p>
        </p:txBody>
      </p:sp>
      <p:sp>
        <p:nvSpPr>
          <p:cNvPr id="39" name="Text 37"/>
          <p:cNvSpPr/>
          <p:nvPr/>
        </p:nvSpPr>
        <p:spPr>
          <a:xfrm>
            <a:off x="7571232" y="2560320"/>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40" name="Shape 38"/>
          <p:cNvSpPr/>
          <p:nvPr/>
        </p:nvSpPr>
        <p:spPr>
          <a:xfrm>
            <a:off x="384048" y="2944368"/>
            <a:ext cx="8641080" cy="347472"/>
          </a:xfrm>
          <a:prstGeom prst="roundRect">
            <a:avLst>
              <a:gd name="adj" fmla="val 10526"/>
            </a:avLst>
          </a:prstGeom>
          <a:solidFill>
            <a:srgbClr val="0C1220"/>
          </a:solidFill>
          <a:ln w="12700">
            <a:solidFill>
              <a:srgbClr val="1A2540"/>
            </a:solidFill>
            <a:prstDash val="solid"/>
          </a:ln>
        </p:spPr>
      </p:sp>
      <p:sp>
        <p:nvSpPr>
          <p:cNvPr id="41" name="Text 39"/>
          <p:cNvSpPr/>
          <p:nvPr/>
        </p:nvSpPr>
        <p:spPr>
          <a:xfrm>
            <a:off x="438912" y="2944368"/>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No-code for operators</a:t>
            </a:r>
            <a:endParaRPr lang="en-US" sz="1000" dirty="0"/>
          </a:p>
        </p:txBody>
      </p:sp>
      <p:sp>
        <p:nvSpPr>
          <p:cNvPr id="42" name="Text 40"/>
          <p:cNvSpPr/>
          <p:nvPr/>
        </p:nvSpPr>
        <p:spPr>
          <a:xfrm>
            <a:off x="2386584" y="2944368"/>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43" name="Text 41"/>
          <p:cNvSpPr/>
          <p:nvPr/>
        </p:nvSpPr>
        <p:spPr>
          <a:xfrm>
            <a:off x="4123944" y="2944368"/>
            <a:ext cx="1517904" cy="34747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Partial</a:t>
            </a:r>
            <a:endParaRPr lang="en-US" sz="1000" dirty="0"/>
          </a:p>
        </p:txBody>
      </p:sp>
      <p:sp>
        <p:nvSpPr>
          <p:cNvPr id="44" name="Text 42"/>
          <p:cNvSpPr/>
          <p:nvPr/>
        </p:nvSpPr>
        <p:spPr>
          <a:xfrm>
            <a:off x="5861304" y="2944368"/>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45" name="Text 43"/>
          <p:cNvSpPr/>
          <p:nvPr/>
        </p:nvSpPr>
        <p:spPr>
          <a:xfrm>
            <a:off x="7571232" y="2944368"/>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46" name="Shape 44"/>
          <p:cNvSpPr/>
          <p:nvPr/>
        </p:nvSpPr>
        <p:spPr>
          <a:xfrm>
            <a:off x="384048" y="3328416"/>
            <a:ext cx="8641080" cy="347472"/>
          </a:xfrm>
          <a:prstGeom prst="roundRect">
            <a:avLst>
              <a:gd name="adj" fmla="val 10526"/>
            </a:avLst>
          </a:prstGeom>
          <a:solidFill>
            <a:srgbClr val="0F1628"/>
          </a:solidFill>
          <a:ln w="12700">
            <a:solidFill>
              <a:srgbClr val="1A2540"/>
            </a:solidFill>
            <a:prstDash val="solid"/>
          </a:ln>
        </p:spPr>
      </p:sp>
      <p:sp>
        <p:nvSpPr>
          <p:cNvPr id="47" name="Text 45"/>
          <p:cNvSpPr/>
          <p:nvPr/>
        </p:nvSpPr>
        <p:spPr>
          <a:xfrm>
            <a:off x="438912" y="3328416"/>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Data sovereignty / on-prem</a:t>
            </a:r>
            <a:endParaRPr lang="en-US" sz="1000" dirty="0"/>
          </a:p>
        </p:txBody>
      </p:sp>
      <p:sp>
        <p:nvSpPr>
          <p:cNvPr id="48" name="Text 46"/>
          <p:cNvSpPr/>
          <p:nvPr/>
        </p:nvSpPr>
        <p:spPr>
          <a:xfrm>
            <a:off x="2386584" y="3328416"/>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49" name="Text 47"/>
          <p:cNvSpPr/>
          <p:nvPr/>
        </p:nvSpPr>
        <p:spPr>
          <a:xfrm>
            <a:off x="4123944" y="3328416"/>
            <a:ext cx="1517904" cy="34747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Enterprise only</a:t>
            </a:r>
            <a:endParaRPr lang="en-US" sz="1000" dirty="0"/>
          </a:p>
        </p:txBody>
      </p:sp>
      <p:sp>
        <p:nvSpPr>
          <p:cNvPr id="50" name="Text 48"/>
          <p:cNvSpPr/>
          <p:nvPr/>
        </p:nvSpPr>
        <p:spPr>
          <a:xfrm>
            <a:off x="5861304" y="3328416"/>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51" name="Text 49"/>
          <p:cNvSpPr/>
          <p:nvPr/>
        </p:nvSpPr>
        <p:spPr>
          <a:xfrm>
            <a:off x="7571232" y="3328416"/>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52" name="Shape 50"/>
          <p:cNvSpPr/>
          <p:nvPr/>
        </p:nvSpPr>
        <p:spPr>
          <a:xfrm>
            <a:off x="384048" y="3712464"/>
            <a:ext cx="8641080" cy="347472"/>
          </a:xfrm>
          <a:prstGeom prst="roundRect">
            <a:avLst>
              <a:gd name="adj" fmla="val 10526"/>
            </a:avLst>
          </a:prstGeom>
          <a:solidFill>
            <a:srgbClr val="0C1220"/>
          </a:solidFill>
          <a:ln w="12700">
            <a:solidFill>
              <a:srgbClr val="1A2540"/>
            </a:solidFill>
            <a:prstDash val="solid"/>
          </a:ln>
        </p:spPr>
      </p:sp>
      <p:sp>
        <p:nvSpPr>
          <p:cNvPr id="53" name="Text 51"/>
          <p:cNvSpPr/>
          <p:nvPr/>
        </p:nvSpPr>
        <p:spPr>
          <a:xfrm>
            <a:off x="438912" y="3712464"/>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Arabic + MENA-first</a:t>
            </a:r>
            <a:endParaRPr lang="en-US" sz="1000" dirty="0"/>
          </a:p>
        </p:txBody>
      </p:sp>
      <p:sp>
        <p:nvSpPr>
          <p:cNvPr id="54" name="Text 52"/>
          <p:cNvSpPr/>
          <p:nvPr/>
        </p:nvSpPr>
        <p:spPr>
          <a:xfrm>
            <a:off x="2386584" y="3712464"/>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55" name="Text 53"/>
          <p:cNvSpPr/>
          <p:nvPr/>
        </p:nvSpPr>
        <p:spPr>
          <a:xfrm>
            <a:off x="4123944" y="3712464"/>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56" name="Text 54"/>
          <p:cNvSpPr/>
          <p:nvPr/>
        </p:nvSpPr>
        <p:spPr>
          <a:xfrm>
            <a:off x="5861304" y="3712464"/>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57" name="Text 55"/>
          <p:cNvSpPr/>
          <p:nvPr/>
        </p:nvSpPr>
        <p:spPr>
          <a:xfrm>
            <a:off x="7571232" y="3712464"/>
            <a:ext cx="1399032"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58" name="Shape 56"/>
          <p:cNvSpPr/>
          <p:nvPr/>
        </p:nvSpPr>
        <p:spPr>
          <a:xfrm>
            <a:off x="384048" y="4096512"/>
            <a:ext cx="8641080" cy="347472"/>
          </a:xfrm>
          <a:prstGeom prst="roundRect">
            <a:avLst>
              <a:gd name="adj" fmla="val 10526"/>
            </a:avLst>
          </a:prstGeom>
          <a:solidFill>
            <a:srgbClr val="0F1628"/>
          </a:solidFill>
          <a:ln w="12700">
            <a:solidFill>
              <a:srgbClr val="1A2540"/>
            </a:solidFill>
            <a:prstDash val="solid"/>
          </a:ln>
        </p:spPr>
      </p:sp>
      <p:sp>
        <p:nvSpPr>
          <p:cNvPr id="59" name="Text 57"/>
          <p:cNvSpPr/>
          <p:nvPr/>
        </p:nvSpPr>
        <p:spPr>
          <a:xfrm>
            <a:off x="438912" y="4096512"/>
            <a:ext cx="1719072" cy="347472"/>
          </a:xfrm>
          <a:prstGeom prst="rect">
            <a:avLst/>
          </a:prstGeom>
          <a:noFill/>
          <a:ln/>
        </p:spPr>
        <p:txBody>
          <a:bodyPr wrap="square" lIns="0" tIns="0" rIns="0" bIns="0" rtlCol="0" anchor="ctr"/>
          <a:lstStyle/>
          <a:p>
            <a:pPr algn="l" indent="0" marL="0">
              <a:buNone/>
            </a:pPr>
            <a:r>
              <a:rPr lang="en-US" sz="1000" dirty="0">
                <a:solidFill>
                  <a:srgbClr val="E2E8F0"/>
                </a:solidFill>
                <a:latin typeface="Arial" pitchFamily="34" charset="0"/>
                <a:ea typeface="Arial" pitchFamily="34" charset="-122"/>
                <a:cs typeface="Arial" pitchFamily="34" charset="-120"/>
              </a:rPr>
              <a:t>Agent Builder</a:t>
            </a:r>
            <a:endParaRPr lang="en-US" sz="1000" dirty="0"/>
          </a:p>
        </p:txBody>
      </p:sp>
      <p:sp>
        <p:nvSpPr>
          <p:cNvPr id="60" name="Text 58"/>
          <p:cNvSpPr/>
          <p:nvPr/>
        </p:nvSpPr>
        <p:spPr>
          <a:xfrm>
            <a:off x="2386584" y="4096512"/>
            <a:ext cx="1517904" cy="347472"/>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a:t>
            </a:r>
            <a:endParaRPr lang="en-US" sz="1000" dirty="0"/>
          </a:p>
        </p:txBody>
      </p:sp>
      <p:sp>
        <p:nvSpPr>
          <p:cNvPr id="61" name="Text 59"/>
          <p:cNvSpPr/>
          <p:nvPr/>
        </p:nvSpPr>
        <p:spPr>
          <a:xfrm>
            <a:off x="4123944" y="4096512"/>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62" name="Text 60"/>
          <p:cNvSpPr/>
          <p:nvPr/>
        </p:nvSpPr>
        <p:spPr>
          <a:xfrm>
            <a:off x="5861304" y="4096512"/>
            <a:ext cx="1517904" cy="347472"/>
          </a:xfrm>
          <a:prstGeom prst="rect">
            <a:avLst/>
          </a:prstGeom>
          <a:noFill/>
          <a:ln/>
        </p:spPr>
        <p:txBody>
          <a:bodyPr wrap="square" lIns="0" tIns="0" rIns="0" bIns="0" rtlCol="0" anchor="ctr"/>
          <a:lstStyle/>
          <a:p>
            <a:pPr algn="ctr" indent="0" marL="0">
              <a:buNone/>
            </a:pPr>
            <a:r>
              <a:rPr lang="en-US" sz="1000" dirty="0">
                <a:solidFill>
                  <a:srgbClr val="4A5578"/>
                </a:solidFill>
                <a:latin typeface="Arial" pitchFamily="34" charset="0"/>
                <a:ea typeface="Arial" pitchFamily="34" charset="-122"/>
                <a:cs typeface="Arial" pitchFamily="34" charset="-120"/>
              </a:rPr>
              <a:t>✗</a:t>
            </a:r>
            <a:endParaRPr lang="en-US" sz="1000" dirty="0"/>
          </a:p>
        </p:txBody>
      </p:sp>
      <p:sp>
        <p:nvSpPr>
          <p:cNvPr id="63" name="Text 61"/>
          <p:cNvSpPr/>
          <p:nvPr/>
        </p:nvSpPr>
        <p:spPr>
          <a:xfrm>
            <a:off x="7571232" y="4096512"/>
            <a:ext cx="1399032" cy="34747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Manual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9 / 12</a:t>
            </a:r>
            <a:endParaRPr lang="en-US" sz="900" dirty="0"/>
          </a:p>
        </p:txBody>
      </p:sp>
      <p:sp>
        <p:nvSpPr>
          <p:cNvPr id="4" name="Text 2"/>
          <p:cNvSpPr/>
          <p:nvPr/>
        </p:nvSpPr>
        <p:spPr>
          <a:xfrm>
            <a:off x="457200" y="292608"/>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BUSINESS MODEL</a:t>
            </a:r>
            <a:endParaRPr lang="en-US" sz="900" dirty="0"/>
          </a:p>
        </p:txBody>
      </p:sp>
      <p:sp>
        <p:nvSpPr>
          <p:cNvPr id="5" name="Text 3"/>
          <p:cNvSpPr/>
          <p:nvPr/>
        </p:nvSpPr>
        <p:spPr>
          <a:xfrm>
            <a:off x="457200" y="493776"/>
            <a:ext cx="5486400" cy="47548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Per organization. Not per seat.</a:t>
            </a:r>
            <a:endParaRPr lang="en-US" sz="2600" dirty="0"/>
          </a:p>
        </p:txBody>
      </p:sp>
      <p:sp>
        <p:nvSpPr>
          <p:cNvPr id="6" name="Shape 4"/>
          <p:cNvSpPr/>
          <p:nvPr/>
        </p:nvSpPr>
        <p:spPr>
          <a:xfrm>
            <a:off x="411480" y="1097280"/>
            <a:ext cx="2011680" cy="237744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539496" y="1444752"/>
            <a:ext cx="1755648" cy="237744"/>
          </a:xfrm>
          <a:prstGeom prst="rect">
            <a:avLst/>
          </a:prstGeom>
          <a:noFill/>
          <a:ln/>
        </p:spPr>
        <p:txBody>
          <a:bodyPr wrap="square" lIns="0" tIns="0" rIns="0" bIns="0" rtlCol="0" anchor="ctr"/>
          <a:lstStyle/>
          <a:p>
            <a:pPr indent="0" marL="0">
              <a:buNone/>
            </a:pPr>
            <a:r>
              <a:rPr lang="en-US" sz="1000" b="1" spc="100" kern="0" dirty="0">
                <a:solidFill>
                  <a:srgbClr val="3B82F6"/>
                </a:solidFill>
                <a:latin typeface="Arial" pitchFamily="34" charset="0"/>
                <a:ea typeface="Arial" pitchFamily="34" charset="-122"/>
                <a:cs typeface="Arial" pitchFamily="34" charset="-120"/>
              </a:rPr>
              <a:t>Starter</a:t>
            </a:r>
            <a:endParaRPr lang="en-US" sz="1000" dirty="0"/>
          </a:p>
        </p:txBody>
      </p:sp>
      <p:sp>
        <p:nvSpPr>
          <p:cNvPr id="8" name="Text 6"/>
          <p:cNvSpPr/>
          <p:nvPr/>
        </p:nvSpPr>
        <p:spPr>
          <a:xfrm>
            <a:off x="539496" y="1664208"/>
            <a:ext cx="1755648" cy="53035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$299</a:t>
            </a:r>
            <a:endParaRPr lang="en-US" sz="2800" dirty="0"/>
          </a:p>
        </p:txBody>
      </p:sp>
      <p:sp>
        <p:nvSpPr>
          <p:cNvPr id="9" name="Text 7"/>
          <p:cNvSpPr/>
          <p:nvPr/>
        </p:nvSpPr>
        <p:spPr>
          <a:xfrm>
            <a:off x="539496" y="2194560"/>
            <a:ext cx="1755648"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/mo</a:t>
            </a:r>
            <a:endParaRPr lang="en-US" sz="1000" dirty="0"/>
          </a:p>
        </p:txBody>
      </p:sp>
      <p:sp>
        <p:nvSpPr>
          <p:cNvPr id="10" name="Text 8"/>
          <p:cNvSpPr/>
          <p:nvPr/>
        </p:nvSpPr>
        <p:spPr>
          <a:xfrm>
            <a:off x="539496" y="2414016"/>
            <a:ext cx="1755648" cy="493776"/>
          </a:xfrm>
          <a:prstGeom prst="rect">
            <a:avLst/>
          </a:prstGeom>
          <a:noFill/>
          <a:ln/>
        </p:spPr>
        <p:txBody>
          <a:bodyPr wrap="square" lIns="0" tIns="0" rIns="0" bIns="0" rtlCol="0" anchor="ctr"/>
          <a:lstStyle/>
          <a:p>
            <a:pPr indent="0" marL="0">
              <a:buNone/>
            </a:pPr>
            <a:r>
              <a:rPr lang="en-US" sz="1000" dirty="0">
                <a:solidFill>
                  <a:srgbClr val="E2E8F0"/>
                </a:solidFill>
                <a:latin typeface="Arial" pitchFamily="34" charset="0"/>
                <a:ea typeface="Arial" pitchFamily="34" charset="-122"/>
                <a:cs typeface="Arial" pitchFamily="34" charset="-120"/>
              </a:rPr>
              <a:t>Startups</a:t>
            </a:r>
            <a:endParaRPr lang="en-US" sz="1000" dirty="0"/>
          </a:p>
          <a:p>
            <a:pPr indent="0" marL="0">
              <a:buNone/>
            </a:pPr>
            <a:r>
              <a:rPr lang="en-US" sz="1000" dirty="0">
                <a:solidFill>
                  <a:srgbClr val="E2E8F0"/>
                </a:solidFill>
                <a:latin typeface="Arial" pitchFamily="34" charset="0"/>
                <a:ea typeface="Arial" pitchFamily="34" charset="-122"/>
                <a:cs typeface="Arial" pitchFamily="34" charset="-120"/>
              </a:rPr>
              <a:t>10–50 employees</a:t>
            </a:r>
            <a:endParaRPr lang="en-US" sz="1000" dirty="0"/>
          </a:p>
        </p:txBody>
      </p:sp>
      <p:sp>
        <p:nvSpPr>
          <p:cNvPr id="11" name="Shape 9"/>
          <p:cNvSpPr/>
          <p:nvPr/>
        </p:nvSpPr>
        <p:spPr>
          <a:xfrm>
            <a:off x="2606040" y="1097280"/>
            <a:ext cx="2011680" cy="2606040"/>
          </a:xfrm>
          <a:prstGeom prst="roundRect">
            <a:avLst>
              <a:gd name="adj" fmla="val 4545"/>
            </a:avLst>
          </a:prstGeom>
          <a:solidFill>
            <a:srgbClr val="0C1220"/>
          </a:solidFill>
          <a:ln w="15240">
            <a:solidFill>
              <a:srgbClr val="F59E0B"/>
            </a:solidFill>
            <a:prstDash val="solid"/>
          </a:ln>
          <a:effectLst>
            <a:outerShdw sx="100000" sy="100000" kx="0" ky="0" algn="bl" rotWithShape="0" blurRad="127000" dist="38100" dir="2700000">
              <a:srgbClr val="000000">
                <a:alpha val="25000"/>
              </a:srgbClr>
            </a:outerShdw>
          </a:effectLst>
        </p:spPr>
      </p:sp>
      <p:sp>
        <p:nvSpPr>
          <p:cNvPr id="12" name="Text 10"/>
          <p:cNvSpPr/>
          <p:nvPr/>
        </p:nvSpPr>
        <p:spPr>
          <a:xfrm>
            <a:off x="2788920" y="1188720"/>
            <a:ext cx="1645920" cy="182880"/>
          </a:xfrm>
          <a:prstGeom prst="rect">
            <a:avLst/>
          </a:prstGeom>
          <a:noFill/>
          <a:ln/>
        </p:spPr>
        <p:txBody>
          <a:bodyPr wrap="square" lIns="0" tIns="0" rIns="0" bIns="0" rtlCol="0" anchor="ctr"/>
          <a:lstStyle/>
          <a:p>
            <a:pPr algn="ctr" indent="0" marL="0">
              <a:buNone/>
            </a:pPr>
            <a:r>
              <a:rPr lang="en-US" sz="750" b="1" spc="150" kern="0" dirty="0">
                <a:solidFill>
                  <a:srgbClr val="F59E0B"/>
                </a:solidFill>
                <a:latin typeface="Arial" pitchFamily="34" charset="0"/>
                <a:ea typeface="Arial" pitchFamily="34" charset="-122"/>
                <a:cs typeface="Arial" pitchFamily="34" charset="-120"/>
              </a:rPr>
              <a:t>MOST POPULAR</a:t>
            </a:r>
            <a:endParaRPr lang="en-US" sz="750" dirty="0"/>
          </a:p>
        </p:txBody>
      </p:sp>
      <p:sp>
        <p:nvSpPr>
          <p:cNvPr id="13" name="Text 11"/>
          <p:cNvSpPr/>
          <p:nvPr/>
        </p:nvSpPr>
        <p:spPr>
          <a:xfrm>
            <a:off x="2734056" y="1554480"/>
            <a:ext cx="1755648" cy="237744"/>
          </a:xfrm>
          <a:prstGeom prst="rect">
            <a:avLst/>
          </a:prstGeom>
          <a:noFill/>
          <a:ln/>
        </p:spPr>
        <p:txBody>
          <a:bodyPr wrap="square" lIns="0" tIns="0" rIns="0" bIns="0" rtlCol="0" anchor="ctr"/>
          <a:lstStyle/>
          <a:p>
            <a:pPr indent="0" marL="0">
              <a:buNone/>
            </a:pPr>
            <a:r>
              <a:rPr lang="en-US" sz="1000" b="1" spc="100" kern="0" dirty="0">
                <a:solidFill>
                  <a:srgbClr val="F59E0B"/>
                </a:solidFill>
                <a:latin typeface="Arial" pitchFamily="34" charset="0"/>
                <a:ea typeface="Arial" pitchFamily="34" charset="-122"/>
                <a:cs typeface="Arial" pitchFamily="34" charset="-120"/>
              </a:rPr>
              <a:t>Growth</a:t>
            </a:r>
            <a:endParaRPr lang="en-US" sz="1000" dirty="0"/>
          </a:p>
        </p:txBody>
      </p:sp>
      <p:sp>
        <p:nvSpPr>
          <p:cNvPr id="14" name="Text 12"/>
          <p:cNvSpPr/>
          <p:nvPr/>
        </p:nvSpPr>
        <p:spPr>
          <a:xfrm>
            <a:off x="2734056" y="1773936"/>
            <a:ext cx="1755648" cy="53035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$1,200</a:t>
            </a:r>
            <a:endParaRPr lang="en-US" sz="2800" dirty="0"/>
          </a:p>
        </p:txBody>
      </p:sp>
      <p:sp>
        <p:nvSpPr>
          <p:cNvPr id="15" name="Text 13"/>
          <p:cNvSpPr/>
          <p:nvPr/>
        </p:nvSpPr>
        <p:spPr>
          <a:xfrm>
            <a:off x="2734056" y="2304288"/>
            <a:ext cx="1755648"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/mo</a:t>
            </a:r>
            <a:endParaRPr lang="en-US" sz="1000" dirty="0"/>
          </a:p>
        </p:txBody>
      </p:sp>
      <p:sp>
        <p:nvSpPr>
          <p:cNvPr id="16" name="Text 14"/>
          <p:cNvSpPr/>
          <p:nvPr/>
        </p:nvSpPr>
        <p:spPr>
          <a:xfrm>
            <a:off x="2734056" y="2523744"/>
            <a:ext cx="1755648" cy="493776"/>
          </a:xfrm>
          <a:prstGeom prst="rect">
            <a:avLst/>
          </a:prstGeom>
          <a:noFill/>
          <a:ln/>
        </p:spPr>
        <p:txBody>
          <a:bodyPr wrap="square" lIns="0" tIns="0" rIns="0" bIns="0" rtlCol="0" anchor="ctr"/>
          <a:lstStyle/>
          <a:p>
            <a:pPr indent="0" marL="0">
              <a:buNone/>
            </a:pPr>
            <a:r>
              <a:rPr lang="en-US" sz="1000" dirty="0">
                <a:solidFill>
                  <a:srgbClr val="E2E8F0"/>
                </a:solidFill>
                <a:latin typeface="Arial" pitchFamily="34" charset="0"/>
                <a:ea typeface="Arial" pitchFamily="34" charset="-122"/>
                <a:cs typeface="Arial" pitchFamily="34" charset="-120"/>
              </a:rPr>
              <a:t>Mid-market</a:t>
            </a:r>
            <a:endParaRPr lang="en-US" sz="1000" dirty="0"/>
          </a:p>
          <a:p>
            <a:pPr indent="0" marL="0">
              <a:buNone/>
            </a:pPr>
            <a:r>
              <a:rPr lang="en-US" sz="1000" dirty="0">
                <a:solidFill>
                  <a:srgbClr val="E2E8F0"/>
                </a:solidFill>
                <a:latin typeface="Arial" pitchFamily="34" charset="0"/>
                <a:ea typeface="Arial" pitchFamily="34" charset="-122"/>
                <a:cs typeface="Arial" pitchFamily="34" charset="-120"/>
              </a:rPr>
              <a:t>50–500 employees</a:t>
            </a:r>
            <a:endParaRPr lang="en-US" sz="1000" dirty="0"/>
          </a:p>
        </p:txBody>
      </p:sp>
      <p:sp>
        <p:nvSpPr>
          <p:cNvPr id="17" name="Shape 15"/>
          <p:cNvSpPr/>
          <p:nvPr/>
        </p:nvSpPr>
        <p:spPr>
          <a:xfrm>
            <a:off x="4800600" y="1097280"/>
            <a:ext cx="2011680" cy="237744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8" name="Text 16"/>
          <p:cNvSpPr/>
          <p:nvPr/>
        </p:nvSpPr>
        <p:spPr>
          <a:xfrm>
            <a:off x="4928616" y="1444752"/>
            <a:ext cx="1755648" cy="237744"/>
          </a:xfrm>
          <a:prstGeom prst="rect">
            <a:avLst/>
          </a:prstGeom>
          <a:noFill/>
          <a:ln/>
        </p:spPr>
        <p:txBody>
          <a:bodyPr wrap="square" lIns="0" tIns="0" rIns="0" bIns="0" rtlCol="0" anchor="ctr"/>
          <a:lstStyle/>
          <a:p>
            <a:pPr indent="0" marL="0">
              <a:buNone/>
            </a:pPr>
            <a:r>
              <a:rPr lang="en-US" sz="1000" b="1" spc="100" kern="0" dirty="0">
                <a:solidFill>
                  <a:srgbClr val="10B981"/>
                </a:solidFill>
                <a:latin typeface="Arial" pitchFamily="34" charset="0"/>
                <a:ea typeface="Arial" pitchFamily="34" charset="-122"/>
                <a:cs typeface="Arial" pitchFamily="34" charset="-120"/>
              </a:rPr>
              <a:t>Enterprise</a:t>
            </a:r>
            <a:endParaRPr lang="en-US" sz="1000" dirty="0"/>
          </a:p>
        </p:txBody>
      </p:sp>
      <p:sp>
        <p:nvSpPr>
          <p:cNvPr id="19" name="Text 17"/>
          <p:cNvSpPr/>
          <p:nvPr/>
        </p:nvSpPr>
        <p:spPr>
          <a:xfrm>
            <a:off x="4928616" y="1664208"/>
            <a:ext cx="1755648" cy="53035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$4,500+</a:t>
            </a:r>
            <a:endParaRPr lang="en-US" sz="2800" dirty="0"/>
          </a:p>
        </p:txBody>
      </p:sp>
      <p:sp>
        <p:nvSpPr>
          <p:cNvPr id="20" name="Text 18"/>
          <p:cNvSpPr/>
          <p:nvPr/>
        </p:nvSpPr>
        <p:spPr>
          <a:xfrm>
            <a:off x="4928616" y="2194560"/>
            <a:ext cx="1755648"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/mo</a:t>
            </a:r>
            <a:endParaRPr lang="en-US" sz="1000" dirty="0"/>
          </a:p>
        </p:txBody>
      </p:sp>
      <p:sp>
        <p:nvSpPr>
          <p:cNvPr id="21" name="Text 19"/>
          <p:cNvSpPr/>
          <p:nvPr/>
        </p:nvSpPr>
        <p:spPr>
          <a:xfrm>
            <a:off x="4928616" y="2414016"/>
            <a:ext cx="1755648" cy="493776"/>
          </a:xfrm>
          <a:prstGeom prst="rect">
            <a:avLst/>
          </a:prstGeom>
          <a:noFill/>
          <a:ln/>
        </p:spPr>
        <p:txBody>
          <a:bodyPr wrap="square" lIns="0" tIns="0" rIns="0" bIns="0" rtlCol="0" anchor="ctr"/>
          <a:lstStyle/>
          <a:p>
            <a:pPr indent="0" marL="0">
              <a:buNone/>
            </a:pPr>
            <a:r>
              <a:rPr lang="en-US" sz="1000" dirty="0">
                <a:solidFill>
                  <a:srgbClr val="E2E8F0"/>
                </a:solidFill>
                <a:latin typeface="Arial" pitchFamily="34" charset="0"/>
                <a:ea typeface="Arial" pitchFamily="34" charset="-122"/>
                <a:cs typeface="Arial" pitchFamily="34" charset="-120"/>
              </a:rPr>
              <a:t>Large org / compliance</a:t>
            </a:r>
            <a:endParaRPr lang="en-US" sz="1000" dirty="0"/>
          </a:p>
        </p:txBody>
      </p:sp>
      <p:sp>
        <p:nvSpPr>
          <p:cNvPr id="22" name="Shape 20"/>
          <p:cNvSpPr/>
          <p:nvPr/>
        </p:nvSpPr>
        <p:spPr>
          <a:xfrm>
            <a:off x="6995160" y="1097280"/>
            <a:ext cx="2011680" cy="237744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23" name="Text 21"/>
          <p:cNvSpPr/>
          <p:nvPr/>
        </p:nvSpPr>
        <p:spPr>
          <a:xfrm>
            <a:off x="7123176" y="1444752"/>
            <a:ext cx="1755648" cy="237744"/>
          </a:xfrm>
          <a:prstGeom prst="rect">
            <a:avLst/>
          </a:prstGeom>
          <a:noFill/>
          <a:ln/>
        </p:spPr>
        <p:txBody>
          <a:bodyPr wrap="square" lIns="0" tIns="0" rIns="0" bIns="0" rtlCol="0" anchor="ctr"/>
          <a:lstStyle/>
          <a:p>
            <a:pPr indent="0" marL="0">
              <a:buNone/>
            </a:pPr>
            <a:r>
              <a:rPr lang="en-US" sz="1000" b="1" spc="100" kern="0" dirty="0">
                <a:solidFill>
                  <a:srgbClr val="8B5CF6"/>
                </a:solidFill>
                <a:latin typeface="Arial" pitchFamily="34" charset="0"/>
                <a:ea typeface="Arial" pitchFamily="34" charset="-122"/>
                <a:cs typeface="Arial" pitchFamily="34" charset="-120"/>
              </a:rPr>
              <a:t>Sovereign</a:t>
            </a:r>
            <a:endParaRPr lang="en-US" sz="1000" dirty="0"/>
          </a:p>
        </p:txBody>
      </p:sp>
      <p:sp>
        <p:nvSpPr>
          <p:cNvPr id="24" name="Text 22"/>
          <p:cNvSpPr/>
          <p:nvPr/>
        </p:nvSpPr>
        <p:spPr>
          <a:xfrm>
            <a:off x="7123176" y="1664208"/>
            <a:ext cx="1755648" cy="53035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Custom</a:t>
            </a:r>
            <a:endParaRPr lang="en-US" sz="2800" dirty="0"/>
          </a:p>
        </p:txBody>
      </p:sp>
      <p:sp>
        <p:nvSpPr>
          <p:cNvPr id="25" name="Text 23"/>
          <p:cNvSpPr/>
          <p:nvPr/>
        </p:nvSpPr>
        <p:spPr>
          <a:xfrm>
            <a:off x="7123176" y="2194560"/>
            <a:ext cx="1755648" cy="201168"/>
          </a:xfrm>
          <a:prstGeom prst="rect">
            <a:avLst/>
          </a:prstGeom>
          <a:noFill/>
          <a:ln/>
        </p:spPr>
        <p:txBody>
          <a:bodyPr wrap="square" lIns="0" tIns="0" rIns="0" bIns="0" rtlCol="0" anchor="ctr"/>
          <a:lstStyle/>
          <a:p>
            <a:pPr indent="0" marL="0">
              <a:buNone/>
            </a:pPr>
            <a:endParaRPr lang="en-US" sz="1000" dirty="0"/>
          </a:p>
        </p:txBody>
      </p:sp>
      <p:sp>
        <p:nvSpPr>
          <p:cNvPr id="26" name="Text 24"/>
          <p:cNvSpPr/>
          <p:nvPr/>
        </p:nvSpPr>
        <p:spPr>
          <a:xfrm>
            <a:off x="7123176" y="2414016"/>
            <a:ext cx="1755648" cy="493776"/>
          </a:xfrm>
          <a:prstGeom prst="rect">
            <a:avLst/>
          </a:prstGeom>
          <a:noFill/>
          <a:ln/>
        </p:spPr>
        <p:txBody>
          <a:bodyPr wrap="square" lIns="0" tIns="0" rIns="0" bIns="0" rtlCol="0" anchor="ctr"/>
          <a:lstStyle/>
          <a:p>
            <a:pPr indent="0" marL="0">
              <a:buNone/>
            </a:pPr>
            <a:r>
              <a:rPr lang="en-US" sz="1000" dirty="0">
                <a:solidFill>
                  <a:srgbClr val="E2E8F0"/>
                </a:solidFill>
                <a:latin typeface="Arial" pitchFamily="34" charset="0"/>
                <a:ea typeface="Arial" pitchFamily="34" charset="-122"/>
                <a:cs typeface="Arial" pitchFamily="34" charset="-120"/>
              </a:rPr>
              <a:t>Government / on-premise</a:t>
            </a:r>
            <a:endParaRPr lang="en-US" sz="1000" dirty="0"/>
          </a:p>
        </p:txBody>
      </p:sp>
      <p:sp>
        <p:nvSpPr>
          <p:cNvPr id="27" name="Shape 25"/>
          <p:cNvSpPr/>
          <p:nvPr/>
        </p:nvSpPr>
        <p:spPr>
          <a:xfrm>
            <a:off x="411480" y="3794760"/>
            <a:ext cx="3931920" cy="914400"/>
          </a:xfrm>
          <a:prstGeom prst="rect">
            <a:avLst>
              <a:gd name="adj" fmla="val 800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28" name="Text 26"/>
          <p:cNvSpPr/>
          <p:nvPr/>
        </p:nvSpPr>
        <p:spPr>
          <a:xfrm>
            <a:off x="576072" y="3922776"/>
            <a:ext cx="3602736" cy="274320"/>
          </a:xfrm>
          <a:prstGeom prst="rect">
            <a:avLst/>
          </a:prstGeom>
          <a:noFill/>
          <a:ln/>
        </p:spPr>
        <p:txBody>
          <a:bodyPr wrap="square" lIns="0" tIns="0" rIns="0" bIns="0" rtlCol="0" anchor="ctr"/>
          <a:lstStyle/>
          <a:p>
            <a:pPr indent="0" marL="0">
              <a:buNone/>
            </a:pPr>
            <a:r>
              <a:rPr lang="en-US" sz="1300" b="1" dirty="0">
                <a:solidFill>
                  <a:srgbClr val="F59E0B"/>
                </a:solidFill>
                <a:latin typeface="Cambria" pitchFamily="34" charset="0"/>
                <a:ea typeface="Cambria" pitchFamily="34" charset="-122"/>
                <a:cs typeface="Cambria" pitchFamily="34" charset="-120"/>
              </a:rPr>
              <a:t>Revenue Streams</a:t>
            </a:r>
            <a:endParaRPr lang="en-US" sz="1300" dirty="0"/>
          </a:p>
        </p:txBody>
      </p:sp>
      <p:sp>
        <p:nvSpPr>
          <p:cNvPr id="29" name="Text 27"/>
          <p:cNvSpPr/>
          <p:nvPr/>
        </p:nvSpPr>
        <p:spPr>
          <a:xfrm>
            <a:off x="576072" y="4251960"/>
            <a:ext cx="3602736" cy="329184"/>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Platform subscriptions — 70% of total revenue at scale</a:t>
            </a:r>
            <a:endParaRPr lang="en-US" sz="1100" dirty="0"/>
          </a:p>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Government &amp; sovereign contracts — 5-year fixed-price, $500K–$2M each</a:t>
            </a:r>
            <a:endParaRPr lang="en-US" sz="1100" dirty="0"/>
          </a:p>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Agent Builder marketplace — 30% take rate on third-party agents</a:t>
            </a:r>
            <a:endParaRPr lang="en-US" sz="1100" dirty="0"/>
          </a:p>
        </p:txBody>
      </p:sp>
      <p:sp>
        <p:nvSpPr>
          <p:cNvPr id="30" name="Shape 28"/>
          <p:cNvSpPr/>
          <p:nvPr/>
        </p:nvSpPr>
        <p:spPr>
          <a:xfrm>
            <a:off x="4572000" y="3794760"/>
            <a:ext cx="4343400" cy="914400"/>
          </a:xfrm>
          <a:prstGeom prst="rect">
            <a:avLst>
              <a:gd name="adj" fmla="val 8000"/>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31" name="Text 29"/>
          <p:cNvSpPr/>
          <p:nvPr/>
        </p:nvSpPr>
        <p:spPr>
          <a:xfrm>
            <a:off x="4736592" y="3922776"/>
            <a:ext cx="4014216" cy="274320"/>
          </a:xfrm>
          <a:prstGeom prst="rect">
            <a:avLst/>
          </a:prstGeom>
          <a:noFill/>
          <a:ln/>
        </p:spPr>
        <p:txBody>
          <a:bodyPr wrap="square" lIns="0" tIns="0" rIns="0" bIns="0" rtlCol="0" anchor="ctr"/>
          <a:lstStyle/>
          <a:p>
            <a:pPr indent="0" marL="0">
              <a:buNone/>
            </a:pPr>
            <a:r>
              <a:rPr lang="en-US" sz="1300" b="1" dirty="0">
                <a:solidFill>
                  <a:srgbClr val="10B981"/>
                </a:solidFill>
                <a:latin typeface="Cambria" pitchFamily="34" charset="0"/>
                <a:ea typeface="Cambria" pitchFamily="34" charset="-122"/>
                <a:cs typeface="Cambria" pitchFamily="34" charset="-120"/>
              </a:rPr>
              <a:t>Unit Economics (Growth tier)</a:t>
            </a:r>
            <a:endParaRPr lang="en-US" sz="1300" dirty="0"/>
          </a:p>
        </p:txBody>
      </p:sp>
      <p:sp>
        <p:nvSpPr>
          <p:cNvPr id="32" name="Text 30"/>
          <p:cNvSpPr/>
          <p:nvPr/>
        </p:nvSpPr>
        <p:spPr>
          <a:xfrm>
            <a:off x="4736592" y="4251960"/>
            <a:ext cx="4014216" cy="329184"/>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CAC target: $4,800 (6× MoM payback)</a:t>
            </a:r>
            <a:endParaRPr lang="en-US" sz="1100" dirty="0"/>
          </a:p>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Gross margin: ~82% (SaaS + Claude API pass-through)</a:t>
            </a:r>
            <a:endParaRPr lang="en-US" sz="1100" dirty="0"/>
          </a:p>
          <a:p>
            <a:pPr marL="342900" indent="-342900">
              <a:spcAft>
                <a:spcPts val="300"/>
              </a:spcAft>
              <a:buSzPct val="100000"/>
              <a:buChar char="•"/>
            </a:pPr>
            <a:r>
              <a:rPr lang="en-US" sz="1100" dirty="0">
                <a:solidFill>
                  <a:srgbClr val="E2E8F0"/>
                </a:solidFill>
                <a:latin typeface="Arial" pitchFamily="34" charset="0"/>
                <a:ea typeface="Arial" pitchFamily="34" charset="-122"/>
                <a:cs typeface="Arial" pitchFamily="34" charset="-120"/>
              </a:rPr>
              <a:t>NRR target: 115% (expansion via custom agents + tiers)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60F"/>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10 / 12</a:t>
            </a:r>
            <a:endParaRPr lang="en-US" sz="900" dirty="0"/>
          </a:p>
        </p:txBody>
      </p:sp>
      <p:sp>
        <p:nvSpPr>
          <p:cNvPr id="4" name="Text 2"/>
          <p:cNvSpPr/>
          <p:nvPr/>
        </p:nvSpPr>
        <p:spPr>
          <a:xfrm>
            <a:off x="457200" y="256032"/>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FUTURE VISION</a:t>
            </a:r>
            <a:endParaRPr lang="en-US" sz="900" dirty="0"/>
          </a:p>
        </p:txBody>
      </p:sp>
      <p:sp>
        <p:nvSpPr>
          <p:cNvPr id="5" name="Text 3"/>
          <p:cNvSpPr/>
          <p:nvPr/>
        </p:nvSpPr>
        <p:spPr>
          <a:xfrm>
            <a:off x="457200" y="457200"/>
            <a:ext cx="8229600" cy="530352"/>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Sovereign Digital State.</a:t>
            </a:r>
            <a:endParaRPr lang="en-US" sz="3000" dirty="0"/>
          </a:p>
        </p:txBody>
      </p:sp>
      <p:sp>
        <p:nvSpPr>
          <p:cNvPr id="6" name="Shape 4"/>
          <p:cNvSpPr/>
          <p:nvPr/>
        </p:nvSpPr>
        <p:spPr>
          <a:xfrm>
            <a:off x="384048" y="1097280"/>
            <a:ext cx="2011680" cy="320040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7" name="Text 5"/>
          <p:cNvSpPr/>
          <p:nvPr/>
        </p:nvSpPr>
        <p:spPr>
          <a:xfrm>
            <a:off x="512064" y="1188720"/>
            <a:ext cx="1755648" cy="219456"/>
          </a:xfrm>
          <a:prstGeom prst="rect">
            <a:avLst/>
          </a:prstGeom>
          <a:noFill/>
          <a:ln/>
        </p:spPr>
        <p:txBody>
          <a:bodyPr wrap="square" lIns="0" tIns="0" rIns="0" bIns="0" rtlCol="0" anchor="ctr"/>
          <a:lstStyle/>
          <a:p>
            <a:pPr indent="0" marL="0">
              <a:buNone/>
            </a:pPr>
            <a:r>
              <a:rPr lang="en-US" sz="900" b="1" spc="100" kern="0" dirty="0">
                <a:solidFill>
                  <a:srgbClr val="10B981"/>
                </a:solidFill>
                <a:latin typeface="Arial" pitchFamily="34" charset="0"/>
                <a:ea typeface="Arial" pitchFamily="34" charset="-122"/>
                <a:cs typeface="Arial" pitchFamily="34" charset="-120"/>
              </a:rPr>
              <a:t>Now</a:t>
            </a:r>
            <a:endParaRPr lang="en-US" sz="900" dirty="0"/>
          </a:p>
        </p:txBody>
      </p:sp>
      <p:sp>
        <p:nvSpPr>
          <p:cNvPr id="8" name="Text 6"/>
          <p:cNvSpPr/>
          <p:nvPr/>
        </p:nvSpPr>
        <p:spPr>
          <a:xfrm>
            <a:off x="512064" y="1426464"/>
            <a:ext cx="1755648"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Platform foundation</a:t>
            </a:r>
            <a:endParaRPr lang="en-US" sz="1200" dirty="0"/>
          </a:p>
        </p:txBody>
      </p:sp>
      <p:sp>
        <p:nvSpPr>
          <p:cNvPr id="9" name="Text 7"/>
          <p:cNvSpPr/>
          <p:nvPr/>
        </p:nvSpPr>
        <p:spPr>
          <a:xfrm>
            <a:off x="512064" y="1828800"/>
            <a:ext cx="1755648" cy="23774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7 agents + orchestration live</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RAG memory layer (pgvector)</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Google Workspace integrations</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Agent Builder + Monitoring</a:t>
            </a:r>
            <a:endParaRPr lang="en-US" sz="1000" dirty="0"/>
          </a:p>
        </p:txBody>
      </p:sp>
      <p:sp>
        <p:nvSpPr>
          <p:cNvPr id="10" name="Shape 8"/>
          <p:cNvSpPr/>
          <p:nvPr/>
        </p:nvSpPr>
        <p:spPr>
          <a:xfrm>
            <a:off x="2578608" y="1097280"/>
            <a:ext cx="2011680" cy="320040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1" name="Text 9"/>
          <p:cNvSpPr/>
          <p:nvPr/>
        </p:nvSpPr>
        <p:spPr>
          <a:xfrm>
            <a:off x="2706624" y="1188720"/>
            <a:ext cx="1755648" cy="219456"/>
          </a:xfrm>
          <a:prstGeom prst="rect">
            <a:avLst/>
          </a:prstGeom>
          <a:noFill/>
          <a:ln/>
        </p:spPr>
        <p:txBody>
          <a:bodyPr wrap="square" lIns="0" tIns="0" rIns="0" bIns="0" rtlCol="0" anchor="ctr"/>
          <a:lstStyle/>
          <a:p>
            <a:pPr indent="0" marL="0">
              <a:buNone/>
            </a:pPr>
            <a:r>
              <a:rPr lang="en-US" sz="900" b="1" spc="100" kern="0" dirty="0">
                <a:solidFill>
                  <a:srgbClr val="3B82F6"/>
                </a:solidFill>
                <a:latin typeface="Arial" pitchFamily="34" charset="0"/>
                <a:ea typeface="Arial" pitchFamily="34" charset="-122"/>
                <a:cs typeface="Arial" pitchFamily="34" charset="-120"/>
              </a:rPr>
              <a:t>Q1–Q2 2027</a:t>
            </a:r>
            <a:endParaRPr lang="en-US" sz="900" dirty="0"/>
          </a:p>
        </p:txBody>
      </p:sp>
      <p:sp>
        <p:nvSpPr>
          <p:cNvPr id="12" name="Text 10"/>
          <p:cNvSpPr/>
          <p:nvPr/>
        </p:nvSpPr>
        <p:spPr>
          <a:xfrm>
            <a:off x="2706624" y="1426464"/>
            <a:ext cx="1755648"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Ecosystem launch</a:t>
            </a:r>
            <a:endParaRPr lang="en-US" sz="1200" dirty="0"/>
          </a:p>
        </p:txBody>
      </p:sp>
      <p:sp>
        <p:nvSpPr>
          <p:cNvPr id="13" name="Text 11"/>
          <p:cNvSpPr/>
          <p:nvPr/>
        </p:nvSpPr>
        <p:spPr>
          <a:xfrm>
            <a:off x="2706624" y="1828800"/>
            <a:ext cx="1755648" cy="23774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Agent marketplace (30% take rate)</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Webhook-triggered auto-workflows</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Mobile approval app</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Arabic optimization</a:t>
            </a:r>
            <a:endParaRPr lang="en-US" sz="1000" dirty="0"/>
          </a:p>
        </p:txBody>
      </p:sp>
      <p:sp>
        <p:nvSpPr>
          <p:cNvPr id="14" name="Shape 12"/>
          <p:cNvSpPr/>
          <p:nvPr/>
        </p:nvSpPr>
        <p:spPr>
          <a:xfrm>
            <a:off x="4773168" y="1097280"/>
            <a:ext cx="2011680" cy="320040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5" name="Text 13"/>
          <p:cNvSpPr/>
          <p:nvPr/>
        </p:nvSpPr>
        <p:spPr>
          <a:xfrm>
            <a:off x="4901184" y="1188720"/>
            <a:ext cx="1755648" cy="219456"/>
          </a:xfrm>
          <a:prstGeom prst="rect">
            <a:avLst/>
          </a:prstGeom>
          <a:noFill/>
          <a:ln/>
        </p:spPr>
        <p:txBody>
          <a:bodyPr wrap="square" lIns="0" tIns="0" rIns="0" bIns="0" rtlCol="0" anchor="ctr"/>
          <a:lstStyle/>
          <a:p>
            <a:pPr indent="0" marL="0">
              <a:buNone/>
            </a:pPr>
            <a:r>
              <a:rPr lang="en-US" sz="900" b="1" spc="100" kern="0" dirty="0">
                <a:solidFill>
                  <a:srgbClr val="F59E0B"/>
                </a:solidFill>
                <a:latin typeface="Arial" pitchFamily="34" charset="0"/>
                <a:ea typeface="Arial" pitchFamily="34" charset="-122"/>
                <a:cs typeface="Arial" pitchFamily="34" charset="-120"/>
              </a:rPr>
              <a:t>Q3 2027</a:t>
            </a:r>
            <a:endParaRPr lang="en-US" sz="900" dirty="0"/>
          </a:p>
        </p:txBody>
      </p:sp>
      <p:sp>
        <p:nvSpPr>
          <p:cNvPr id="16" name="Text 14"/>
          <p:cNvSpPr/>
          <p:nvPr/>
        </p:nvSpPr>
        <p:spPr>
          <a:xfrm>
            <a:off x="4901184" y="1426464"/>
            <a:ext cx="1755648"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Series A &amp; MENA expansion</a:t>
            </a:r>
            <a:endParaRPr lang="en-US" sz="1200" dirty="0"/>
          </a:p>
        </p:txBody>
      </p:sp>
      <p:sp>
        <p:nvSpPr>
          <p:cNvPr id="17" name="Text 15"/>
          <p:cNvSpPr/>
          <p:nvPr/>
        </p:nvSpPr>
        <p:spPr>
          <a:xfrm>
            <a:off x="4901184" y="1828800"/>
            <a:ext cx="1755648" cy="23774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First government sovereign contract</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On-premise deployment package</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Multi-model support (local LLMs)</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Series A raise: $5–8M</a:t>
            </a:r>
            <a:endParaRPr lang="en-US" sz="1000" dirty="0"/>
          </a:p>
        </p:txBody>
      </p:sp>
      <p:sp>
        <p:nvSpPr>
          <p:cNvPr id="18" name="Shape 16"/>
          <p:cNvSpPr/>
          <p:nvPr/>
        </p:nvSpPr>
        <p:spPr>
          <a:xfrm>
            <a:off x="6967728" y="1097280"/>
            <a:ext cx="2011680" cy="3200400"/>
          </a:xfrm>
          <a:prstGeom prst="roundRect">
            <a:avLst>
              <a:gd name="adj" fmla="val 4545"/>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9" name="Text 17"/>
          <p:cNvSpPr/>
          <p:nvPr/>
        </p:nvSpPr>
        <p:spPr>
          <a:xfrm>
            <a:off x="7095744" y="1188720"/>
            <a:ext cx="1755648" cy="219456"/>
          </a:xfrm>
          <a:prstGeom prst="rect">
            <a:avLst/>
          </a:prstGeom>
          <a:noFill/>
          <a:ln/>
        </p:spPr>
        <p:txBody>
          <a:bodyPr wrap="square" lIns="0" tIns="0" rIns="0" bIns="0" rtlCol="0" anchor="ctr"/>
          <a:lstStyle/>
          <a:p>
            <a:pPr indent="0" marL="0">
              <a:buNone/>
            </a:pPr>
            <a:r>
              <a:rPr lang="en-US" sz="900" b="1" spc="100" kern="0" dirty="0">
                <a:solidFill>
                  <a:srgbClr val="8B5CF6"/>
                </a:solidFill>
                <a:latin typeface="Arial" pitchFamily="34" charset="0"/>
                <a:ea typeface="Arial" pitchFamily="34" charset="-122"/>
                <a:cs typeface="Arial" pitchFamily="34" charset="-120"/>
              </a:rPr>
              <a:t>2028+</a:t>
            </a:r>
            <a:endParaRPr lang="en-US" sz="900" dirty="0"/>
          </a:p>
        </p:txBody>
      </p:sp>
      <p:sp>
        <p:nvSpPr>
          <p:cNvPr id="20" name="Text 18"/>
          <p:cNvSpPr/>
          <p:nvPr/>
        </p:nvSpPr>
        <p:spPr>
          <a:xfrm>
            <a:off x="7095744" y="1426464"/>
            <a:ext cx="1755648" cy="34747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National infrastructure</a:t>
            </a:r>
            <a:endParaRPr lang="en-US" sz="1200" dirty="0"/>
          </a:p>
        </p:txBody>
      </p:sp>
      <p:sp>
        <p:nvSpPr>
          <p:cNvPr id="21" name="Text 19"/>
          <p:cNvSpPr/>
          <p:nvPr/>
        </p:nvSpPr>
        <p:spPr>
          <a:xfrm>
            <a:off x="7095744" y="1828800"/>
            <a:ext cx="1755648" cy="23774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3+ national deployments as digital workforce platform</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Cross-organization workflow federation</a:t>
            </a:r>
            <a:endParaRPr lang="en-US" sz="1000" dirty="0"/>
          </a:p>
          <a:p>
            <a:pPr marL="342900" indent="-342900">
              <a:spcAft>
                <a:spcPts val="400"/>
              </a:spcAft>
              <a:buSzPct val="100000"/>
              <a:buChar char="•"/>
            </a:pPr>
            <a:r>
              <a:rPr lang="en-US" sz="1000" dirty="0">
                <a:solidFill>
                  <a:srgbClr val="94A3B8"/>
                </a:solidFill>
                <a:latin typeface="Arial" pitchFamily="34" charset="0"/>
                <a:ea typeface="Arial" pitchFamily="34" charset="-122"/>
                <a:cs typeface="Arial" pitchFamily="34" charset="-120"/>
              </a:rPr>
              <a:t>Category leadership in Autonomous AI Workforce</a:t>
            </a:r>
            <a:endParaRPr lang="en-US" sz="1000" dirty="0"/>
          </a:p>
        </p:txBody>
      </p:sp>
      <p:sp>
        <p:nvSpPr>
          <p:cNvPr id="22" name="Shape 20"/>
          <p:cNvSpPr/>
          <p:nvPr/>
        </p:nvSpPr>
        <p:spPr>
          <a:xfrm>
            <a:off x="384048" y="4425696"/>
            <a:ext cx="8641080" cy="566928"/>
          </a:xfrm>
          <a:prstGeom prst="roundRect">
            <a:avLst>
              <a:gd name="adj" fmla="val 12903"/>
            </a:avLst>
          </a:prstGeom>
          <a:solidFill>
            <a:srgbClr val="0C1220"/>
          </a:solidFill>
          <a:ln w="10160">
            <a:solidFill>
              <a:srgbClr val="F59E0B"/>
            </a:solidFill>
            <a:prstDash val="solid"/>
          </a:ln>
        </p:spPr>
      </p:sp>
      <p:sp>
        <p:nvSpPr>
          <p:cNvPr id="23" name="Text 21"/>
          <p:cNvSpPr/>
          <p:nvPr/>
        </p:nvSpPr>
        <p:spPr>
          <a:xfrm>
            <a:off x="548640" y="4462272"/>
            <a:ext cx="8321040" cy="493776"/>
          </a:xfrm>
          <a:prstGeom prst="rect">
            <a:avLst/>
          </a:prstGeom>
          <a:noFill/>
          <a:ln/>
        </p:spPr>
        <p:txBody>
          <a:bodyPr wrap="square" lIns="0" tIns="0" rIns="0" bIns="0"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"The countries that will lead the next wave of AI adoption are not the ones that wait for Silicon Valley. They are the ones that build their own — designed for their context, their languages, their governance."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320040" y="4846320"/>
            <a:ext cx="3200400" cy="182880"/>
          </a:xfrm>
          <a:prstGeom prst="rect">
            <a:avLst/>
          </a:prstGeom>
          <a:noFill/>
          <a:ln/>
        </p:spPr>
        <p:txBody>
          <a:bodyPr wrap="square" lIns="0" tIns="0" rIns="0" bIns="0" rtlCol="0" anchor="ctr"/>
          <a:lstStyle/>
          <a:p>
            <a:pPr indent="0" marL="0">
              <a:buNone/>
            </a:pPr>
            <a:r>
              <a:rPr lang="en-US" sz="900" spc="100" kern="0" dirty="0">
                <a:solidFill>
                  <a:srgbClr val="4A5578"/>
                </a:solidFill>
                <a:latin typeface="Arial" pitchFamily="34" charset="0"/>
                <a:ea typeface="Arial" pitchFamily="34" charset="-122"/>
                <a:cs typeface="Arial" pitchFamily="34" charset="-120"/>
              </a:rPr>
              <a:t>◈  SOVEREIGN AI WORKFORCE</a:t>
            </a:r>
            <a:endParaRPr lang="en-US" sz="900" dirty="0"/>
          </a:p>
        </p:txBody>
      </p:sp>
      <p:sp>
        <p:nvSpPr>
          <p:cNvPr id="3" name="Text 1"/>
          <p:cNvSpPr/>
          <p:nvPr/>
        </p:nvSpPr>
        <p:spPr>
          <a:xfrm>
            <a:off x="8138160" y="4846320"/>
            <a:ext cx="822960" cy="182880"/>
          </a:xfrm>
          <a:prstGeom prst="rect">
            <a:avLst/>
          </a:prstGeom>
          <a:noFill/>
          <a:ln/>
        </p:spPr>
        <p:txBody>
          <a:bodyPr wrap="square" lIns="0" tIns="0" rIns="0" bIns="0" rtlCol="0" anchor="ctr"/>
          <a:lstStyle/>
          <a:p>
            <a:pPr algn="r" indent="0" marL="0">
              <a:buNone/>
            </a:pPr>
            <a:r>
              <a:rPr lang="en-US" sz="900" dirty="0">
                <a:solidFill>
                  <a:srgbClr val="4A5578"/>
                </a:solidFill>
                <a:latin typeface="Arial" pitchFamily="34" charset="0"/>
                <a:ea typeface="Arial" pitchFamily="34" charset="-122"/>
                <a:cs typeface="Arial" pitchFamily="34" charset="-120"/>
              </a:rPr>
              <a:t>11 / 12</a:t>
            </a:r>
            <a:endParaRPr lang="en-US" sz="900" dirty="0"/>
          </a:p>
        </p:txBody>
      </p:sp>
      <p:sp>
        <p:nvSpPr>
          <p:cNvPr id="4" name="Text 2"/>
          <p:cNvSpPr/>
          <p:nvPr/>
        </p:nvSpPr>
        <p:spPr>
          <a:xfrm>
            <a:off x="457200" y="292608"/>
            <a:ext cx="4572000" cy="228600"/>
          </a:xfrm>
          <a:prstGeom prst="rect">
            <a:avLst/>
          </a:prstGeom>
          <a:noFill/>
          <a:ln/>
        </p:spPr>
        <p:txBody>
          <a:bodyPr wrap="square" lIns="0" tIns="0" rIns="0" bIns="0" rtlCol="0" anchor="ctr"/>
          <a:lstStyle/>
          <a:p>
            <a:pPr algn="l" indent="0" marL="0">
              <a:buNone/>
            </a:pPr>
            <a:r>
              <a:rPr lang="en-US" sz="900" b="1" spc="200" kern="0" dirty="0">
                <a:solidFill>
                  <a:srgbClr val="F59E0B"/>
                </a:solidFill>
                <a:latin typeface="Arial" pitchFamily="34" charset="0"/>
                <a:ea typeface="Arial" pitchFamily="34" charset="-122"/>
                <a:cs typeface="Arial" pitchFamily="34" charset="-120"/>
              </a:rPr>
              <a:t>THE TEAM</a:t>
            </a:r>
            <a:endParaRPr lang="en-US" sz="900" dirty="0"/>
          </a:p>
        </p:txBody>
      </p:sp>
      <p:sp>
        <p:nvSpPr>
          <p:cNvPr id="5" name="Text 3"/>
          <p:cNvSpPr/>
          <p:nvPr/>
        </p:nvSpPr>
        <p:spPr>
          <a:xfrm>
            <a:off x="457200" y="493776"/>
            <a:ext cx="4206240" cy="804672"/>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Built by an engineer who thinks</a:t>
            </a:r>
            <a:endParaRPr lang="en-US" sz="2400" dirty="0"/>
          </a:p>
          <a:p>
            <a:pPr indent="0" marL="0">
              <a:buNone/>
            </a:pPr>
            <a:r>
              <a:rPr lang="en-US" sz="2400" b="1" dirty="0">
                <a:solidFill>
                  <a:srgbClr val="FFFFFF"/>
                </a:solidFill>
                <a:latin typeface="Cambria" pitchFamily="34" charset="0"/>
                <a:ea typeface="Cambria" pitchFamily="34" charset="-122"/>
                <a:cs typeface="Cambria" pitchFamily="34" charset="-120"/>
              </a:rPr>
              <a:t>like an investor.</a:t>
            </a:r>
            <a:endParaRPr lang="en-US" sz="2400" dirty="0"/>
          </a:p>
        </p:txBody>
      </p:sp>
      <p:sp>
        <p:nvSpPr>
          <p:cNvPr id="6" name="Shape 4"/>
          <p:cNvSpPr/>
          <p:nvPr/>
        </p:nvSpPr>
        <p:spPr>
          <a:xfrm>
            <a:off x="457200" y="1426464"/>
            <a:ext cx="3931920" cy="2286000"/>
          </a:xfrm>
          <a:prstGeom prst="roundRect">
            <a:avLst>
              <a:gd name="adj" fmla="val 4000"/>
            </a:avLst>
          </a:prstGeom>
          <a:solidFill>
            <a:srgbClr val="0C122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7" name="Shape 5"/>
          <p:cNvSpPr/>
          <p:nvPr/>
        </p:nvSpPr>
        <p:spPr>
          <a:xfrm>
            <a:off x="621792" y="1572768"/>
            <a:ext cx="804672" cy="804672"/>
          </a:xfrm>
          <a:prstGeom prst="ellipse">
            <a:avLst/>
          </a:prstGeom>
          <a:solidFill>
            <a:srgbClr val="1D3A6B"/>
          </a:solidFill>
          <a:ln w="15240">
            <a:solidFill>
              <a:srgbClr val="3B82F6"/>
            </a:solidFill>
            <a:prstDash val="solid"/>
          </a:ln>
        </p:spPr>
      </p:sp>
      <p:sp>
        <p:nvSpPr>
          <p:cNvPr id="8" name="Text 6"/>
          <p:cNvSpPr/>
          <p:nvPr/>
        </p:nvSpPr>
        <p:spPr>
          <a:xfrm>
            <a:off x="621792" y="1572768"/>
            <a:ext cx="804672"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FB</a:t>
            </a:r>
            <a:endParaRPr lang="en-US" sz="1800" dirty="0"/>
          </a:p>
        </p:txBody>
      </p:sp>
      <p:sp>
        <p:nvSpPr>
          <p:cNvPr id="9" name="Text 7"/>
          <p:cNvSpPr/>
          <p:nvPr/>
        </p:nvSpPr>
        <p:spPr>
          <a:xfrm>
            <a:off x="1517904" y="1609344"/>
            <a:ext cx="2706624"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Boukhalfa Fateh Abderrahim  🇩🇿</a:t>
            </a:r>
            <a:endParaRPr lang="en-US" sz="1300" dirty="0"/>
          </a:p>
        </p:txBody>
      </p:sp>
      <p:sp>
        <p:nvSpPr>
          <p:cNvPr id="10" name="Text 8"/>
          <p:cNvSpPr/>
          <p:nvPr/>
        </p:nvSpPr>
        <p:spPr>
          <a:xfrm>
            <a:off x="1517904" y="1883664"/>
            <a:ext cx="2706624"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Sovereign AI Engineer · USTHB, Algeria</a:t>
            </a:r>
            <a:endParaRPr lang="en-US" sz="1000" dirty="0"/>
          </a:p>
        </p:txBody>
      </p:sp>
      <p:sp>
        <p:nvSpPr>
          <p:cNvPr id="11" name="Text 9"/>
          <p:cNvSpPr/>
          <p:nvPr/>
        </p:nvSpPr>
        <p:spPr>
          <a:xfrm>
            <a:off x="1517904" y="2084832"/>
            <a:ext cx="2706624" cy="201168"/>
          </a:xfrm>
          <a:prstGeom prst="rect">
            <a:avLst/>
          </a:prstGeom>
          <a:noFill/>
          <a:ln/>
        </p:spPr>
        <p:txBody>
          <a:bodyPr wrap="square" lIns="0" tIns="0" rIns="0" bIns="0" rtlCol="0" anchor="ctr"/>
          <a:lstStyle/>
          <a:p>
            <a:pPr indent="0" marL="0">
              <a:buNone/>
            </a:pPr>
            <a:r>
              <a:rPr lang="en-US" sz="950" dirty="0">
                <a:solidFill>
                  <a:srgbClr val="F59E0B"/>
                </a:solidFill>
                <a:latin typeface="Arial" pitchFamily="34" charset="0"/>
                <a:ea typeface="Arial" pitchFamily="34" charset="-122"/>
                <a:cs typeface="Arial" pitchFamily="34" charset="-120"/>
              </a:rPr>
              <a:t>USAII Global AI Hackathon 2026 · Vision2030 Neural Governance</a:t>
            </a:r>
            <a:endParaRPr lang="en-US" sz="950" dirty="0"/>
          </a:p>
        </p:txBody>
      </p:sp>
      <p:sp>
        <p:nvSpPr>
          <p:cNvPr id="12" name="Text 10"/>
          <p:cNvSpPr/>
          <p:nvPr/>
        </p:nvSpPr>
        <p:spPr>
          <a:xfrm>
            <a:off x="621792" y="2395728"/>
            <a:ext cx="3602736" cy="11887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Full-stack platform: FastAPI + pgvector + Claude API + Google Workspace</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Product, design system, landing page, mobile app, pitch deck — end to end</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Sovereign AI architect: building national-scale AI infrastructure for MENA</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Science &amp; Technology student, USTHB — Algeria's top engineering university</a:t>
            </a:r>
            <a:endParaRPr lang="en-US" sz="1000" dirty="0"/>
          </a:p>
        </p:txBody>
      </p:sp>
      <p:sp>
        <p:nvSpPr>
          <p:cNvPr id="13" name="Shape 11"/>
          <p:cNvSpPr/>
          <p:nvPr/>
        </p:nvSpPr>
        <p:spPr>
          <a:xfrm>
            <a:off x="4663440" y="1115568"/>
            <a:ext cx="4206240" cy="3246120"/>
          </a:xfrm>
          <a:prstGeom prst="roundRect">
            <a:avLst>
              <a:gd name="adj" fmla="val 2817"/>
            </a:avLst>
          </a:prstGeom>
          <a:solidFill>
            <a:srgbClr val="0C1220"/>
          </a:solidFill>
          <a:ln w="6350">
            <a:solidFill>
              <a:srgbClr val="1A2540"/>
            </a:solidFill>
            <a:prstDash val="solid"/>
          </a:ln>
          <a:effectLst>
            <a:outerShdw sx="100000" sy="100000" kx="0" ky="0" algn="bl" rotWithShape="0" blurRad="127000" dist="38100" dir="2700000">
              <a:srgbClr val="000000">
                <a:alpha val="25000"/>
              </a:srgbClr>
            </a:outerShdw>
          </a:effectLst>
        </p:spPr>
      </p:sp>
      <p:sp>
        <p:nvSpPr>
          <p:cNvPr id="14" name="Text 12"/>
          <p:cNvSpPr/>
          <p:nvPr/>
        </p:nvSpPr>
        <p:spPr>
          <a:xfrm>
            <a:off x="4828032" y="1207008"/>
            <a:ext cx="3840480" cy="274320"/>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What's been built — solo</a:t>
            </a:r>
            <a:endParaRPr lang="en-US" sz="1200" dirty="0"/>
          </a:p>
        </p:txBody>
      </p:sp>
      <p:sp>
        <p:nvSpPr>
          <p:cNvPr id="15" name="Text 13"/>
          <p:cNvSpPr/>
          <p:nvPr/>
        </p:nvSpPr>
        <p:spPr>
          <a:xfrm>
            <a:off x="4828032" y="1536192"/>
            <a:ext cx="3886200" cy="27432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Backend: FastAPI + PostgreSQL/pgvector, 29 files, 2 Alembic migrations</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RAG: sentence-transformers embeddings, cosine search, HNSW index</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Frontend: React SPA with 6-screen orchestration demo</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Mobile app: 10-screen enterprise UX with biometric approval</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Landing page: 14-section conversion-focused SaaS page</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Design system: 20-section enterprise design doc (1,374 paragraphs)</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Strategy document: 15-section investor-grade pitch strategy</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Demo script: narrated 8-step end-to-end CLI walkthrough</a:t>
            </a:r>
            <a:endParaRPr lang="en-US" sz="1000" dirty="0"/>
          </a:p>
          <a:p>
            <a:pPr marL="342900" indent="-342900">
              <a:spcAft>
                <a:spcPts val="300"/>
              </a:spcAft>
              <a:buSzPct val="100000"/>
              <a:buChar char="•"/>
            </a:pPr>
            <a:r>
              <a:rPr lang="en-US" sz="1000" dirty="0">
                <a:solidFill>
                  <a:srgbClr val="E2E8F0"/>
                </a:solidFill>
                <a:latin typeface="Arial" pitchFamily="34" charset="0"/>
                <a:ea typeface="Arial" pitchFamily="34" charset="-122"/>
                <a:cs typeface="Arial" pitchFamily="34" charset="-120"/>
              </a:rPr>
              <a:t>Deployed: sovereign-ai-workforce.vercel.app</a:t>
            </a:r>
            <a:endParaRPr lang="en-US" sz="1000" dirty="0"/>
          </a:p>
        </p:txBody>
      </p:sp>
      <p:sp>
        <p:nvSpPr>
          <p:cNvPr id="16" name="Shape 14"/>
          <p:cNvSpPr/>
          <p:nvPr/>
        </p:nvSpPr>
        <p:spPr>
          <a:xfrm>
            <a:off x="457200" y="3858768"/>
            <a:ext cx="8412480" cy="640080"/>
          </a:xfrm>
          <a:prstGeom prst="roundRect">
            <a:avLst>
              <a:gd name="adj" fmla="val 11429"/>
            </a:avLst>
          </a:prstGeom>
          <a:solidFill>
            <a:srgbClr val="0C1220"/>
          </a:solidFill>
          <a:ln w="6350">
            <a:solidFill>
              <a:srgbClr val="1A2540"/>
            </a:solidFill>
            <a:prstDash val="solid"/>
          </a:ln>
        </p:spPr>
      </p:sp>
      <p:sp>
        <p:nvSpPr>
          <p:cNvPr id="17" name="Text 15"/>
          <p:cNvSpPr/>
          <p:nvPr/>
        </p:nvSpPr>
        <p:spPr>
          <a:xfrm>
            <a:off x="621792" y="3913632"/>
            <a:ext cx="8092440" cy="530352"/>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Seeking to add:  ·  Enterprise Sales (MENA/KSA focus)  ·  Customer Success  ·  Backend Engineer (Python/FastAPI)  ·  Series A: Q3 2027  ·  Advisors welcome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60F"/>
        </a:solidFill>
      </p:bgPr>
    </p:bg>
    <p:spTree>
      <p:nvGrpSpPr>
        <p:cNvPr id="1" name=""/>
        <p:cNvGrpSpPr/>
        <p:nvPr/>
      </p:nvGrpSpPr>
      <p:grpSpPr>
        <a:xfrm>
          <a:off x="0" y="0"/>
          <a:ext cx="0" cy="0"/>
          <a:chOff x="0" y="0"/>
          <a:chExt cx="0" cy="0"/>
        </a:xfrm>
      </p:grpSpPr>
      <p:sp>
        <p:nvSpPr>
          <p:cNvPr id="2" name="Shape 0"/>
          <p:cNvSpPr/>
          <p:nvPr/>
        </p:nvSpPr>
        <p:spPr>
          <a:xfrm>
            <a:off x="3200400" y="-1371600"/>
            <a:ext cx="2743200" cy="2743200"/>
          </a:xfrm>
          <a:prstGeom prst="ellipse">
            <a:avLst/>
          </a:prstGeom>
          <a:solidFill>
            <a:srgbClr val="F59E0B">
              <a:alpha val="10000"/>
            </a:srgbClr>
          </a:solidFill>
          <a:ln w="12700">
            <a:solidFill>
              <a:srgbClr val="04060F"/>
            </a:solidFill>
            <a:prstDash val="solid"/>
          </a:ln>
        </p:spPr>
      </p:sp>
      <p:sp>
        <p:nvSpPr>
          <p:cNvPr id="3" name="Shape 1"/>
          <p:cNvSpPr/>
          <p:nvPr/>
        </p:nvSpPr>
        <p:spPr>
          <a:xfrm>
            <a:off x="4023360" y="438912"/>
            <a:ext cx="1097280" cy="1097280"/>
          </a:xfrm>
          <a:prstGeom prst="ellipse">
            <a:avLst/>
          </a:prstGeom>
          <a:solidFill>
            <a:srgbClr val="F59E0B"/>
          </a:solidFill>
          <a:ln w="12700">
            <a:solidFill>
              <a:srgbClr val="04060F"/>
            </a:solidFill>
            <a:prstDash val="solid"/>
          </a:ln>
          <a:effectLst>
            <a:outerShdw sx="100000" sy="100000" kx="0" ky="0" algn="bl" rotWithShape="0" blurRad="254000" dist="50800" dir="2700000">
              <a:srgbClr val="000000">
                <a:alpha val="50000"/>
              </a:srgbClr>
            </a:outerShdw>
          </a:effectLst>
        </p:spPr>
      </p:sp>
      <p:sp>
        <p:nvSpPr>
          <p:cNvPr id="4" name="Text 2"/>
          <p:cNvSpPr/>
          <p:nvPr/>
        </p:nvSpPr>
        <p:spPr>
          <a:xfrm>
            <a:off x="4023360" y="402336"/>
            <a:ext cx="1097280" cy="1097280"/>
          </a:xfrm>
          <a:prstGeom prst="rect">
            <a:avLst/>
          </a:prstGeom>
          <a:noFill/>
          <a:ln/>
        </p:spPr>
        <p:txBody>
          <a:bodyPr wrap="square" lIns="0" tIns="0" rIns="0" bIns="0" rtlCol="0" anchor="ctr"/>
          <a:lstStyle/>
          <a:p>
            <a:pPr algn="ctr" indent="0" marL="0">
              <a:buNone/>
            </a:pPr>
            <a:r>
              <a:rPr lang="en-US" sz="3600" b="1" dirty="0">
                <a:solidFill>
                  <a:srgbClr val="04060F"/>
                </a:solidFill>
                <a:latin typeface="Arial" pitchFamily="34" charset="0"/>
                <a:ea typeface="Arial" pitchFamily="34" charset="-122"/>
                <a:cs typeface="Arial" pitchFamily="34" charset="-120"/>
              </a:rPr>
              <a:t>◈</a:t>
            </a:r>
            <a:endParaRPr lang="en-US" sz="3600" dirty="0"/>
          </a:p>
        </p:txBody>
      </p:sp>
      <p:sp>
        <p:nvSpPr>
          <p:cNvPr id="5" name="Text 3"/>
          <p:cNvSpPr/>
          <p:nvPr/>
        </p:nvSpPr>
        <p:spPr>
          <a:xfrm>
            <a:off x="457200" y="1664208"/>
            <a:ext cx="82296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The workforce is ready.</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Deploy it.</a:t>
            </a:r>
            <a:endParaRPr lang="en-US" sz="3600" dirty="0"/>
          </a:p>
        </p:txBody>
      </p:sp>
      <p:sp>
        <p:nvSpPr>
          <p:cNvPr id="6" name="Text 4"/>
          <p:cNvSpPr/>
          <p:nvPr/>
        </p:nvSpPr>
        <p:spPr>
          <a:xfrm>
            <a:off x="1097280" y="2651760"/>
            <a:ext cx="694944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Arial" pitchFamily="34" charset="0"/>
                <a:ea typeface="Arial" pitchFamily="34" charset="-122"/>
                <a:cs typeface="Arial" pitchFamily="34" charset="-120"/>
              </a:rPr>
              <a:t>Sovereign AI Workforce — an autonomous workforce platform for organizations that cannot afford to spend their best people on their worst work.</a:t>
            </a:r>
            <a:endParaRPr lang="en-US" sz="1300" dirty="0"/>
          </a:p>
        </p:txBody>
      </p:sp>
      <p:sp>
        <p:nvSpPr>
          <p:cNvPr id="7" name="Shape 5"/>
          <p:cNvSpPr/>
          <p:nvPr/>
        </p:nvSpPr>
        <p:spPr>
          <a:xfrm>
            <a:off x="3474720" y="3218688"/>
            <a:ext cx="2194560" cy="0"/>
          </a:xfrm>
          <a:prstGeom prst="line">
            <a:avLst/>
          </a:prstGeom>
          <a:noFill/>
          <a:ln w="12700">
            <a:solidFill>
              <a:srgbClr val="F59E0B"/>
            </a:solidFill>
            <a:prstDash val="solid"/>
          </a:ln>
        </p:spPr>
      </p:sp>
      <p:sp>
        <p:nvSpPr>
          <p:cNvPr id="8" name="Text 6"/>
          <p:cNvSpPr/>
          <p:nvPr/>
        </p:nvSpPr>
        <p:spPr>
          <a:xfrm>
            <a:off x="1097280" y="3383280"/>
            <a:ext cx="2194560" cy="219456"/>
          </a:xfrm>
          <a:prstGeom prst="rect">
            <a:avLst/>
          </a:prstGeom>
          <a:noFill/>
          <a:ln/>
        </p:spPr>
        <p:txBody>
          <a:bodyPr wrap="square" lIns="0" tIns="0" rIns="0" bIns="0" rtlCol="0" anchor="ctr"/>
          <a:lstStyle/>
          <a:p>
            <a:pPr algn="ctr" indent="0" marL="0">
              <a:buNone/>
            </a:pPr>
            <a:r>
              <a:rPr lang="en-US" sz="900" b="1" spc="100" kern="0" dirty="0">
                <a:solidFill>
                  <a:srgbClr val="F59E0B"/>
                </a:solidFill>
                <a:latin typeface="Arial" pitchFamily="34" charset="0"/>
                <a:ea typeface="Arial" pitchFamily="34" charset="-122"/>
                <a:cs typeface="Arial" pitchFamily="34" charset="-120"/>
              </a:rPr>
              <a:t>Try it live</a:t>
            </a:r>
            <a:endParaRPr lang="en-US" sz="900" dirty="0"/>
          </a:p>
        </p:txBody>
      </p:sp>
      <p:sp>
        <p:nvSpPr>
          <p:cNvPr id="9" name="Text 7"/>
          <p:cNvSpPr/>
          <p:nvPr/>
        </p:nvSpPr>
        <p:spPr>
          <a:xfrm>
            <a:off x="1097280" y="3602736"/>
            <a:ext cx="219456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Arial" pitchFamily="34" charset="0"/>
                <a:ea typeface="Arial" pitchFamily="34" charset="-122"/>
                <a:cs typeface="Arial" pitchFamily="34" charset="-120"/>
              </a:rPr>
              <a:t>sovereign-ai-workforce.vercel.app</a:t>
            </a:r>
            <a:endParaRPr lang="en-US" sz="1050" dirty="0"/>
          </a:p>
        </p:txBody>
      </p:sp>
      <p:sp>
        <p:nvSpPr>
          <p:cNvPr id="10" name="Text 8"/>
          <p:cNvSpPr/>
          <p:nvPr/>
        </p:nvSpPr>
        <p:spPr>
          <a:xfrm>
            <a:off x="3657600" y="3383280"/>
            <a:ext cx="2194560" cy="219456"/>
          </a:xfrm>
          <a:prstGeom prst="rect">
            <a:avLst/>
          </a:prstGeom>
          <a:noFill/>
          <a:ln/>
        </p:spPr>
        <p:txBody>
          <a:bodyPr wrap="square" lIns="0" tIns="0" rIns="0" bIns="0" rtlCol="0" anchor="ctr"/>
          <a:lstStyle/>
          <a:p>
            <a:pPr algn="ctr" indent="0" marL="0">
              <a:buNone/>
            </a:pPr>
            <a:r>
              <a:rPr lang="en-US" sz="900" b="1" spc="100" kern="0" dirty="0">
                <a:solidFill>
                  <a:srgbClr val="F59E0B"/>
                </a:solidFill>
                <a:latin typeface="Arial" pitchFamily="34" charset="0"/>
                <a:ea typeface="Arial" pitchFamily="34" charset="-122"/>
                <a:cs typeface="Arial" pitchFamily="34" charset="-120"/>
              </a:rPr>
              <a:t>Invest / Advise</a:t>
            </a:r>
            <a:endParaRPr lang="en-US" sz="900" dirty="0"/>
          </a:p>
        </p:txBody>
      </p:sp>
      <p:sp>
        <p:nvSpPr>
          <p:cNvPr id="11" name="Text 9"/>
          <p:cNvSpPr/>
          <p:nvPr/>
        </p:nvSpPr>
        <p:spPr>
          <a:xfrm>
            <a:off x="3657600" y="3602736"/>
            <a:ext cx="219456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Arial" pitchFamily="34" charset="0"/>
                <a:ea typeface="Arial" pitchFamily="34" charset="-122"/>
                <a:cs typeface="Arial" pitchFamily="34" charset="-120"/>
              </a:rPr>
              <a:t>MENA enterprise · USAII Hackathon 2026</a:t>
            </a:r>
            <a:endParaRPr lang="en-US" sz="1050" dirty="0"/>
          </a:p>
        </p:txBody>
      </p:sp>
      <p:sp>
        <p:nvSpPr>
          <p:cNvPr id="12" name="Text 10"/>
          <p:cNvSpPr/>
          <p:nvPr/>
        </p:nvSpPr>
        <p:spPr>
          <a:xfrm>
            <a:off x="6217920" y="3383280"/>
            <a:ext cx="2194560" cy="219456"/>
          </a:xfrm>
          <a:prstGeom prst="rect">
            <a:avLst/>
          </a:prstGeom>
          <a:noFill/>
          <a:ln/>
        </p:spPr>
        <p:txBody>
          <a:bodyPr wrap="square" lIns="0" tIns="0" rIns="0" bIns="0" rtlCol="0" anchor="ctr"/>
          <a:lstStyle/>
          <a:p>
            <a:pPr algn="ctr" indent="0" marL="0">
              <a:buNone/>
            </a:pPr>
            <a:r>
              <a:rPr lang="en-US" sz="900" b="1" spc="100" kern="0" dirty="0">
                <a:solidFill>
                  <a:srgbClr val="F59E0B"/>
                </a:solidFill>
                <a:latin typeface="Arial" pitchFamily="34" charset="0"/>
                <a:ea typeface="Arial" pitchFamily="34" charset="-122"/>
                <a:cs typeface="Arial" pitchFamily="34" charset="-120"/>
              </a:rPr>
              <a:t>Contact</a:t>
            </a:r>
            <a:endParaRPr lang="en-US" sz="900" dirty="0"/>
          </a:p>
        </p:txBody>
      </p:sp>
      <p:sp>
        <p:nvSpPr>
          <p:cNvPr id="13" name="Text 11"/>
          <p:cNvSpPr/>
          <p:nvPr/>
        </p:nvSpPr>
        <p:spPr>
          <a:xfrm>
            <a:off x="6217920" y="3602736"/>
            <a:ext cx="2194560" cy="256032"/>
          </a:xfrm>
          <a:prstGeom prst="rect">
            <a:avLst/>
          </a:prstGeom>
          <a:noFill/>
          <a:ln/>
        </p:spPr>
        <p:txBody>
          <a:bodyPr wrap="square" lIns="0" tIns="0" rIns="0" bIns="0" rtlCol="0" anchor="ctr"/>
          <a:lstStyle/>
          <a:p>
            <a:pPr algn="ctr" indent="0" marL="0">
              <a:buNone/>
            </a:pPr>
            <a:r>
              <a:rPr lang="en-US" sz="1050" dirty="0">
                <a:solidFill>
                  <a:srgbClr val="94A3B8"/>
                </a:solidFill>
                <a:latin typeface="Arial" pitchFamily="34" charset="0"/>
                <a:ea typeface="Arial" pitchFamily="34" charset="-122"/>
                <a:cs typeface="Arial" pitchFamily="34" charset="-120"/>
              </a:rPr>
              <a:t>Boukhalfa Fateh Abderrahim · USTHB 🇩🇿</a:t>
            </a:r>
            <a:endParaRPr lang="en-US" sz="1050" dirty="0"/>
          </a:p>
        </p:txBody>
      </p:sp>
      <p:sp>
        <p:nvSpPr>
          <p:cNvPr id="14" name="Text 12"/>
          <p:cNvSpPr/>
          <p:nvPr/>
        </p:nvSpPr>
        <p:spPr>
          <a:xfrm>
            <a:off x="457200" y="4736592"/>
            <a:ext cx="8229600" cy="201168"/>
          </a:xfrm>
          <a:prstGeom prst="rect">
            <a:avLst/>
          </a:prstGeom>
          <a:noFill/>
          <a:ln/>
        </p:spPr>
        <p:txBody>
          <a:bodyPr wrap="square" lIns="0" tIns="0" rIns="0" bIns="0" rtlCol="0" anchor="ctr"/>
          <a:lstStyle/>
          <a:p>
            <a:pPr algn="ctr" indent="0" marL="0">
              <a:buNone/>
            </a:pPr>
            <a:r>
              <a:rPr lang="en-US" sz="850" spc="80" kern="0" dirty="0">
                <a:solidFill>
                  <a:srgbClr val="4A5578"/>
                </a:solidFill>
                <a:latin typeface="Arial" pitchFamily="34" charset="0"/>
                <a:ea typeface="Arial" pitchFamily="34" charset="-122"/>
                <a:cs typeface="Arial" pitchFamily="34" charset="-120"/>
              </a:rPr>
              <a:t>◈  SOVEREIGN AI WORKFORCE  ·  CONFIDENTIAL  ·  USAII GLOBAL AI HACKATHON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Sovereign AI Workforce — Pitch Deck 2026</dc:title>
  <dc:subject>USAII Global AI Hackathon 2026</dc:subject>
  <dc:creator>Boukhalfa Fateh Abderrahim</dc:creator>
  <cp:lastModifiedBy>Boukhalfa Fateh Abderrahim</cp:lastModifiedBy>
  <cp:revision>1</cp:revision>
  <dcterms:created xsi:type="dcterms:W3CDTF">2026-06-18T14:33:10Z</dcterms:created>
  <dcterms:modified xsi:type="dcterms:W3CDTF">2026-06-18T14:33:10Z</dcterms:modified>
</cp:coreProperties>
</file>